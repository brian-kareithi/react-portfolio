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Bold" charset="1" panose="00000800000000000000"/>
      <p:regular r:id="rId21"/>
    </p:embeddedFont>
    <p:embeddedFont>
      <p:font typeface="Montserrat"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9" id="9"/>
          <p:cNvGrpSpPr/>
          <p:nvPr/>
        </p:nvGrpSpPr>
        <p:grpSpPr>
          <a:xfrm rot="0">
            <a:off x="799326" y="8783971"/>
            <a:ext cx="16689348" cy="815308"/>
            <a:chOff x="0" y="0"/>
            <a:chExt cx="4395548" cy="214731"/>
          </a:xfrm>
        </p:grpSpPr>
        <p:sp>
          <p:nvSpPr>
            <p:cNvPr name="Freeform 10" id="10"/>
            <p:cNvSpPr/>
            <p:nvPr/>
          </p:nvSpPr>
          <p:spPr>
            <a:xfrm flipH="false" flipV="false" rot="0">
              <a:off x="0" y="0"/>
              <a:ext cx="4395548" cy="214731"/>
            </a:xfrm>
            <a:custGeom>
              <a:avLst/>
              <a:gdLst/>
              <a:ahLst/>
              <a:cxnLst/>
              <a:rect r="r" b="b" t="t" l="l"/>
              <a:pathLst>
                <a:path h="214731" w="4395548">
                  <a:moveTo>
                    <a:pt x="13917" y="0"/>
                  </a:moveTo>
                  <a:lnTo>
                    <a:pt x="4381632" y="0"/>
                  </a:lnTo>
                  <a:cubicBezTo>
                    <a:pt x="4389318" y="0"/>
                    <a:pt x="4395548" y="6231"/>
                    <a:pt x="4395548" y="13917"/>
                  </a:cubicBezTo>
                  <a:lnTo>
                    <a:pt x="4395548" y="200815"/>
                  </a:lnTo>
                  <a:cubicBezTo>
                    <a:pt x="4395548" y="204506"/>
                    <a:pt x="4394082" y="208045"/>
                    <a:pt x="4391472" y="210655"/>
                  </a:cubicBezTo>
                  <a:cubicBezTo>
                    <a:pt x="4388862" y="213265"/>
                    <a:pt x="4385323" y="214731"/>
                    <a:pt x="4381632" y="214731"/>
                  </a:cubicBezTo>
                  <a:lnTo>
                    <a:pt x="13917" y="214731"/>
                  </a:lnTo>
                  <a:cubicBezTo>
                    <a:pt x="10226" y="214731"/>
                    <a:pt x="6686" y="213265"/>
                    <a:pt x="4076" y="210655"/>
                  </a:cubicBezTo>
                  <a:cubicBezTo>
                    <a:pt x="1466" y="208045"/>
                    <a:pt x="0" y="204506"/>
                    <a:pt x="0" y="200815"/>
                  </a:cubicBezTo>
                  <a:lnTo>
                    <a:pt x="0" y="13917"/>
                  </a:lnTo>
                  <a:cubicBezTo>
                    <a:pt x="0" y="10226"/>
                    <a:pt x="1466" y="6686"/>
                    <a:pt x="4076" y="4076"/>
                  </a:cubicBezTo>
                  <a:cubicBezTo>
                    <a:pt x="6686" y="1466"/>
                    <a:pt x="10226" y="0"/>
                    <a:pt x="13917" y="0"/>
                  </a:cubicBezTo>
                  <a:close/>
                </a:path>
              </a:pathLst>
            </a:custGeom>
            <a:solidFill>
              <a:srgbClr val="000000"/>
            </a:solidFill>
            <a:ln cap="rnd">
              <a:noFill/>
              <a:prstDash val="solid"/>
              <a:round/>
            </a:ln>
          </p:spPr>
        </p:sp>
        <p:sp>
          <p:nvSpPr>
            <p:cNvPr name="TextBox 11" id="11"/>
            <p:cNvSpPr txBox="true"/>
            <p:nvPr/>
          </p:nvSpPr>
          <p:spPr>
            <a:xfrm>
              <a:off x="0" y="-38100"/>
              <a:ext cx="4395548" cy="252831"/>
            </a:xfrm>
            <a:prstGeom prst="rect">
              <a:avLst/>
            </a:prstGeom>
          </p:spPr>
          <p:txBody>
            <a:bodyPr anchor="ctr" rtlCol="false" tIns="50800" lIns="50800" bIns="50800" rIns="50800"/>
            <a:lstStyle/>
            <a:p>
              <a:pPr algn="ctr" marL="0" indent="0" lvl="0">
                <a:lnSpc>
                  <a:spcPts val="2800"/>
                </a:lnSpc>
              </a:pPr>
            </a:p>
          </p:txBody>
        </p:sp>
      </p:grpSp>
      <p:grpSp>
        <p:nvGrpSpPr>
          <p:cNvPr name="Group 12" id="12"/>
          <p:cNvGrpSpPr/>
          <p:nvPr/>
        </p:nvGrpSpPr>
        <p:grpSpPr>
          <a:xfrm rot="0">
            <a:off x="7925500" y="6875137"/>
            <a:ext cx="2437000" cy="787252"/>
            <a:chOff x="0" y="0"/>
            <a:chExt cx="641844" cy="207342"/>
          </a:xfrm>
        </p:grpSpPr>
        <p:sp>
          <p:nvSpPr>
            <p:cNvPr name="Freeform 13" id="13"/>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4" id="14"/>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VIEW PROJECT</a:t>
              </a:r>
            </a:p>
          </p:txBody>
        </p:sp>
      </p:grpSp>
      <p:sp>
        <p:nvSpPr>
          <p:cNvPr name="Freeform 15" id="15"/>
          <p:cNvSpPr/>
          <p:nvPr/>
        </p:nvSpPr>
        <p:spPr>
          <a:xfrm flipH="false" flipV="false" rot="0">
            <a:off x="13734055" y="1147926"/>
            <a:ext cx="6840072" cy="6939524"/>
          </a:xfrm>
          <a:custGeom>
            <a:avLst/>
            <a:gdLst/>
            <a:ahLst/>
            <a:cxnLst/>
            <a:rect r="r" b="b" t="t" l="l"/>
            <a:pathLst>
              <a:path h="6939524" w="6840072">
                <a:moveTo>
                  <a:pt x="0" y="0"/>
                </a:moveTo>
                <a:lnTo>
                  <a:pt x="6840071" y="0"/>
                </a:lnTo>
                <a:lnTo>
                  <a:pt x="6840071" y="6939524"/>
                </a:lnTo>
                <a:lnTo>
                  <a:pt x="0" y="6939524"/>
                </a:lnTo>
                <a:lnTo>
                  <a:pt x="0" y="0"/>
                </a:lnTo>
                <a:close/>
              </a:path>
            </a:pathLst>
          </a:custGeom>
          <a:blipFill>
            <a:blip r:embed="rId4">
              <a:alphaModFix amt="70000"/>
            </a:blip>
            <a:stretch>
              <a:fillRect l="0" t="0" r="0" b="0"/>
            </a:stretch>
          </a:blipFill>
        </p:spPr>
      </p:sp>
      <p:sp>
        <p:nvSpPr>
          <p:cNvPr name="Freeform 16" id="16"/>
          <p:cNvSpPr/>
          <p:nvPr/>
        </p:nvSpPr>
        <p:spPr>
          <a:xfrm flipH="false" flipV="false" rot="0">
            <a:off x="-2072365" y="1953276"/>
            <a:ext cx="6874817" cy="6911928"/>
          </a:xfrm>
          <a:custGeom>
            <a:avLst/>
            <a:gdLst/>
            <a:ahLst/>
            <a:cxnLst/>
            <a:rect r="r" b="b" t="t" l="l"/>
            <a:pathLst>
              <a:path h="6911928" w="6874817">
                <a:moveTo>
                  <a:pt x="0" y="0"/>
                </a:moveTo>
                <a:lnTo>
                  <a:pt x="6874817" y="0"/>
                </a:lnTo>
                <a:lnTo>
                  <a:pt x="6874817" y="6911928"/>
                </a:lnTo>
                <a:lnTo>
                  <a:pt x="0" y="6911928"/>
                </a:lnTo>
                <a:lnTo>
                  <a:pt x="0" y="0"/>
                </a:lnTo>
                <a:close/>
              </a:path>
            </a:pathLst>
          </a:custGeom>
          <a:blipFill>
            <a:blip r:embed="rId5">
              <a:alphaModFix amt="70000"/>
            </a:blip>
            <a:stretch>
              <a:fillRect l="0" t="0" r="0" b="0"/>
            </a:stretch>
          </a:blipFill>
        </p:spPr>
      </p:sp>
      <p:grpSp>
        <p:nvGrpSpPr>
          <p:cNvPr name="Group 17" id="17"/>
          <p:cNvGrpSpPr/>
          <p:nvPr/>
        </p:nvGrpSpPr>
        <p:grpSpPr>
          <a:xfrm rot="0">
            <a:off x="1028700" y="8960184"/>
            <a:ext cx="462882" cy="462882"/>
            <a:chOff x="0" y="0"/>
            <a:chExt cx="673100" cy="673100"/>
          </a:xfrm>
        </p:grpSpPr>
        <p:sp>
          <p:nvSpPr>
            <p:cNvPr name="Freeform 18" id="18"/>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19" id="19"/>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
        <p:nvSpPr>
          <p:cNvPr name="TextBox 20" id="20"/>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ROADSAFE360</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1" id="21"/>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HOME</a:t>
            </a:r>
          </a:p>
        </p:txBody>
      </p:sp>
      <p:sp>
        <p:nvSpPr>
          <p:cNvPr name="TextBox 22" id="22"/>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TextBox 23" id="23"/>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PROJECT</a:t>
            </a:r>
          </a:p>
        </p:txBody>
      </p:sp>
      <p:sp>
        <p:nvSpPr>
          <p:cNvPr name="TextBox 24" id="24"/>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DEMO</a:t>
            </a:r>
          </a:p>
        </p:txBody>
      </p:sp>
      <p:sp>
        <p:nvSpPr>
          <p:cNvPr name="TextBox 25" id="25"/>
          <p:cNvSpPr txBox="true"/>
          <p:nvPr/>
        </p:nvSpPr>
        <p:spPr>
          <a:xfrm rot="0">
            <a:off x="1654883" y="2376962"/>
            <a:ext cx="14978234" cy="2216202"/>
          </a:xfrm>
          <a:prstGeom prst="rect">
            <a:avLst/>
          </a:prstGeom>
        </p:spPr>
        <p:txBody>
          <a:bodyPr anchor="t" rtlCol="false" tIns="0" lIns="0" bIns="0" rIns="0">
            <a:spAutoFit/>
          </a:bodyPr>
          <a:lstStyle/>
          <a:p>
            <a:pPr algn="ctr" marL="0" indent="0" lvl="0">
              <a:lnSpc>
                <a:spcPts val="18108"/>
              </a:lnSpc>
            </a:pPr>
            <a:r>
              <a:rPr lang="en-US" b="true" sz="12934" spc="-866">
                <a:solidFill>
                  <a:srgbClr val="000000"/>
                </a:solidFill>
                <a:latin typeface="Montserrat Bold"/>
                <a:ea typeface="Montserrat Bold"/>
                <a:cs typeface="Montserrat Bold"/>
                <a:sym typeface="Montserrat Bold"/>
              </a:rPr>
              <a:t>RoadSafe360</a:t>
            </a:r>
          </a:p>
        </p:txBody>
      </p:sp>
      <p:sp>
        <p:nvSpPr>
          <p:cNvPr name="TextBox 26" id="26"/>
          <p:cNvSpPr txBox="true"/>
          <p:nvPr/>
        </p:nvSpPr>
        <p:spPr>
          <a:xfrm rot="0">
            <a:off x="4376705" y="4945118"/>
            <a:ext cx="9534589" cy="1139467"/>
          </a:xfrm>
          <a:prstGeom prst="rect">
            <a:avLst/>
          </a:prstGeom>
        </p:spPr>
        <p:txBody>
          <a:bodyPr anchor="t" rtlCol="false" tIns="0" lIns="0" bIns="0" rIns="0">
            <a:spAutoFit/>
          </a:bodyPr>
          <a:lstStyle/>
          <a:p>
            <a:pPr algn="ctr" marL="0" indent="0" lvl="0">
              <a:lnSpc>
                <a:spcPts val="3010"/>
              </a:lnSpc>
            </a:pPr>
            <a:r>
              <a:rPr lang="en-US" sz="2298" spc="-82">
                <a:solidFill>
                  <a:srgbClr val="000000"/>
                </a:solidFill>
                <a:latin typeface="Montserrat"/>
                <a:ea typeface="Montserrat"/>
                <a:cs typeface="Montserrat"/>
                <a:sym typeface="Montserrat"/>
              </a:rPr>
              <a:t>Intelligent Driver Demerit &amp; Road Safety Management System</a:t>
            </a:r>
          </a:p>
          <a:p>
            <a:pPr algn="ctr" marL="0" indent="0" lvl="0">
              <a:lnSpc>
                <a:spcPts val="3010"/>
              </a:lnSpc>
            </a:pPr>
            <a:r>
              <a:rPr lang="en-US" sz="2298" spc="-82">
                <a:solidFill>
                  <a:srgbClr val="000000"/>
                </a:solidFill>
                <a:latin typeface="Montserrat"/>
                <a:ea typeface="Montserrat"/>
                <a:cs typeface="Montserrat"/>
                <a:sym typeface="Montserrat"/>
              </a:rPr>
              <a:t>Year 8 Project-Based Learning (PBL) Classroom Project</a:t>
            </a:r>
          </a:p>
          <a:p>
            <a:pPr algn="ctr" marL="0" indent="0" lvl="0">
              <a:lnSpc>
                <a:spcPts val="3010"/>
              </a:lnSpc>
            </a:pPr>
            <a:r>
              <a:rPr lang="en-US" sz="2298" spc="-82">
                <a:solidFill>
                  <a:srgbClr val="000000"/>
                </a:solidFill>
                <a:latin typeface="Montserrat"/>
                <a:ea typeface="Montserrat"/>
                <a:cs typeface="Montserrat"/>
                <a:sym typeface="Montserrat"/>
              </a:rPr>
              <a:t>Author: Brian Kareithi and Sir Dilton</a:t>
            </a:r>
          </a:p>
        </p:txBody>
      </p:sp>
      <p:grpSp>
        <p:nvGrpSpPr>
          <p:cNvPr name="Group 27" id="27"/>
          <p:cNvGrpSpPr/>
          <p:nvPr/>
        </p:nvGrpSpPr>
        <p:grpSpPr>
          <a:xfrm rot="0">
            <a:off x="16796418" y="8960184"/>
            <a:ext cx="462882" cy="462882"/>
            <a:chOff x="0" y="0"/>
            <a:chExt cx="673100" cy="673100"/>
          </a:xfrm>
        </p:grpSpPr>
        <p:sp>
          <p:nvSpPr>
            <p:cNvPr name="Freeform 28" id="28"/>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29" id="29"/>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
        <p:nvSpPr>
          <p:cNvPr name="TextBox 30" id="30"/>
          <p:cNvSpPr txBox="true"/>
          <p:nvPr/>
        </p:nvSpPr>
        <p:spPr>
          <a:xfrm rot="0">
            <a:off x="1461629" y="8929897"/>
            <a:ext cx="15364742" cy="456708"/>
          </a:xfrm>
          <a:prstGeom prst="rect">
            <a:avLst/>
          </a:prstGeom>
        </p:spPr>
        <p:txBody>
          <a:bodyPr anchor="t" rtlCol="false" tIns="0" lIns="0" bIns="0" rIns="0">
            <a:spAutoFit/>
          </a:bodyPr>
          <a:lstStyle/>
          <a:p>
            <a:pPr algn="ctr" marL="0" indent="0" lvl="0">
              <a:lnSpc>
                <a:spcPts val="3618"/>
              </a:lnSpc>
            </a:pPr>
            <a:r>
              <a:rPr lang="en-US" b="true" sz="2762" spc="-99">
                <a:solidFill>
                  <a:srgbClr val="FFFFFF"/>
                </a:solidFill>
                <a:latin typeface="Montserrat Bold"/>
                <a:ea typeface="Montserrat Bold"/>
                <a:cs typeface="Montserrat Bold"/>
                <a:sym typeface="Montserrat Bold"/>
              </a:rPr>
              <a:t>ROADSAFE360 - INTELLIGENT DRIVER DEMERIT &amp; ROAD SAFETY MANAGEMENT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ROADSAFE360</a:t>
            </a:r>
          </a:p>
          <a:p>
            <a:pPr algn="l" marL="0" indent="0" lvl="0">
              <a:lnSpc>
                <a:spcPts val="2252"/>
              </a:lnSpc>
            </a:pPr>
            <a:r>
              <a:rPr lang="en-US" b="true" sz="2298" spc="62">
                <a:solidFill>
                  <a:srgbClr val="000000"/>
                </a:solidFill>
                <a:latin typeface="Montserrat Bold"/>
                <a:ea typeface="Montserrat Bold"/>
                <a:cs typeface="Montserrat Bold"/>
                <a:sym typeface="Montserrat Bold"/>
              </a:rPr>
              <a:t>PBL PROJECT</a:t>
            </a:r>
          </a:p>
        </p:txBody>
      </p:sp>
      <p:sp>
        <p:nvSpPr>
          <p:cNvPr name="TextBox 10" id="10"/>
          <p:cNvSpPr txBox="true"/>
          <p:nvPr/>
        </p:nvSpPr>
        <p:spPr>
          <a:xfrm rot="0">
            <a:off x="5718971" y="784350"/>
            <a:ext cx="1755559" cy="249079"/>
          </a:xfrm>
          <a:prstGeom prst="rect">
            <a:avLst/>
          </a:prstGeom>
        </p:spPr>
        <p:txBody>
          <a:bodyPr anchor="t" rtlCol="false" tIns="0" lIns="0" bIns="0" rIns="0">
            <a:spAutoFit/>
          </a:bodyPr>
          <a:lstStyle/>
          <a:p>
            <a:pPr algn="ctr" marL="0" indent="0" lvl="0">
              <a:lnSpc>
                <a:spcPts val="2021"/>
              </a:lnSpc>
              <a:spcBef>
                <a:spcPct val="0"/>
              </a:spcBef>
            </a:pPr>
            <a:r>
              <a:rPr lang="en-US" sz="1443" spc="167">
                <a:solidFill>
                  <a:srgbClr val="000000"/>
                </a:solidFill>
                <a:latin typeface="Montserrat"/>
                <a:ea typeface="Montserrat"/>
                <a:cs typeface="Montserrat"/>
                <a:sym typeface="Montserrat"/>
              </a:rPr>
              <a:t>HOME</a:t>
            </a:r>
          </a:p>
        </p:txBody>
      </p:sp>
      <p:sp>
        <p:nvSpPr>
          <p:cNvPr name="TextBox 11" id="11"/>
          <p:cNvSpPr txBox="true"/>
          <p:nvPr/>
        </p:nvSpPr>
        <p:spPr>
          <a:xfrm rot="0">
            <a:off x="7844217" y="784350"/>
            <a:ext cx="2013772" cy="249079"/>
          </a:xfrm>
          <a:prstGeom prst="rect">
            <a:avLst/>
          </a:prstGeom>
        </p:spPr>
        <p:txBody>
          <a:bodyPr anchor="t" rtlCol="false" tIns="0" lIns="0" bIns="0" rIns="0">
            <a:spAutoFit/>
          </a:bodyPr>
          <a:lstStyle/>
          <a:p>
            <a:pPr algn="ctr" marL="0" indent="0" lvl="0">
              <a:lnSpc>
                <a:spcPts val="2021"/>
              </a:lnSpc>
              <a:spcBef>
                <a:spcPct val="0"/>
              </a:spcBef>
            </a:pPr>
            <a:r>
              <a:rPr lang="en-US" sz="1443">
                <a:solidFill>
                  <a:srgbClr val="000000"/>
                </a:solidFill>
                <a:latin typeface="Montserrat"/>
                <a:ea typeface="Montserrat"/>
                <a:cs typeface="Montserrat"/>
                <a:sym typeface="Montserrat"/>
              </a:rPr>
              <a:t>ABOUT</a:t>
            </a:r>
          </a:p>
        </p:txBody>
      </p:sp>
      <p:sp>
        <p:nvSpPr>
          <p:cNvPr name="Freeform 12" id="12"/>
          <p:cNvSpPr/>
          <p:nvPr/>
        </p:nvSpPr>
        <p:spPr>
          <a:xfrm flipH="false" flipV="false" rot="0">
            <a:off x="1940383" y="1074818"/>
            <a:ext cx="6910721" cy="6910721"/>
          </a:xfrm>
          <a:custGeom>
            <a:avLst/>
            <a:gdLst/>
            <a:ahLst/>
            <a:cxnLst/>
            <a:rect r="r" b="b" t="t" l="l"/>
            <a:pathLst>
              <a:path h="6910721" w="6910721">
                <a:moveTo>
                  <a:pt x="0" y="0"/>
                </a:moveTo>
                <a:lnTo>
                  <a:pt x="6910720" y="0"/>
                </a:lnTo>
                <a:lnTo>
                  <a:pt x="6910720"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9144000" y="5578105"/>
            <a:ext cx="7613208" cy="3386493"/>
            <a:chOff x="0" y="0"/>
            <a:chExt cx="1179485" cy="524656"/>
          </a:xfrm>
        </p:grpSpPr>
        <p:sp>
          <p:nvSpPr>
            <p:cNvPr name="Freeform 14" id="14"/>
            <p:cNvSpPr/>
            <p:nvPr/>
          </p:nvSpPr>
          <p:spPr>
            <a:xfrm flipH="false" flipV="false" rot="0">
              <a:off x="0" y="0"/>
              <a:ext cx="1179485" cy="524656"/>
            </a:xfrm>
            <a:custGeom>
              <a:avLst/>
              <a:gdLst/>
              <a:ahLst/>
              <a:cxnLst/>
              <a:rect r="r" b="b" t="t" l="l"/>
              <a:pathLst>
                <a:path h="524656" w="1179485">
                  <a:moveTo>
                    <a:pt x="41693" y="0"/>
                  </a:moveTo>
                  <a:lnTo>
                    <a:pt x="1137792" y="0"/>
                  </a:lnTo>
                  <a:cubicBezTo>
                    <a:pt x="1160818" y="0"/>
                    <a:pt x="1179485" y="18667"/>
                    <a:pt x="1179485" y="41693"/>
                  </a:cubicBezTo>
                  <a:lnTo>
                    <a:pt x="1179485" y="482963"/>
                  </a:lnTo>
                  <a:cubicBezTo>
                    <a:pt x="1179485" y="505990"/>
                    <a:pt x="1160818" y="524656"/>
                    <a:pt x="1137792" y="524656"/>
                  </a:cubicBezTo>
                  <a:lnTo>
                    <a:pt x="41693" y="524656"/>
                  </a:lnTo>
                  <a:cubicBezTo>
                    <a:pt x="18667" y="524656"/>
                    <a:pt x="0" y="505990"/>
                    <a:pt x="0" y="482963"/>
                  </a:cubicBezTo>
                  <a:lnTo>
                    <a:pt x="0" y="41693"/>
                  </a:lnTo>
                  <a:cubicBezTo>
                    <a:pt x="0" y="18667"/>
                    <a:pt x="18667" y="0"/>
                    <a:pt x="41693" y="0"/>
                  </a:cubicBezTo>
                  <a:close/>
                </a:path>
              </a:pathLst>
            </a:custGeom>
            <a:blipFill>
              <a:blip r:embed="rId6"/>
              <a:stretch>
                <a:fillRect l="0" t="-722" r="0" b="-722"/>
              </a:stretch>
            </a:blipFill>
          </p:spPr>
        </p:sp>
      </p:grpSp>
      <p:grpSp>
        <p:nvGrpSpPr>
          <p:cNvPr name="Group 15" id="15"/>
          <p:cNvGrpSpPr/>
          <p:nvPr/>
        </p:nvGrpSpPr>
        <p:grpSpPr>
          <a:xfrm rot="0">
            <a:off x="1247411" y="7985538"/>
            <a:ext cx="2437000" cy="787252"/>
            <a:chOff x="0" y="0"/>
            <a:chExt cx="641844" cy="207342"/>
          </a:xfrm>
        </p:grpSpPr>
        <p:sp>
          <p:nvSpPr>
            <p:cNvPr name="Freeform 16" id="16"/>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7" id="17"/>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grpSp>
        <p:nvGrpSpPr>
          <p:cNvPr name="Group 18" id="18"/>
          <p:cNvGrpSpPr/>
          <p:nvPr/>
        </p:nvGrpSpPr>
        <p:grpSpPr>
          <a:xfrm rot="-5400000">
            <a:off x="10315569" y="7780164"/>
            <a:ext cx="760864" cy="2195408"/>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5400000">
            <a:off x="12406857" y="7780164"/>
            <a:ext cx="760864" cy="2195408"/>
            <a:chOff x="0" y="0"/>
            <a:chExt cx="238315" cy="687639"/>
          </a:xfrm>
        </p:grpSpPr>
        <p:sp>
          <p:nvSpPr>
            <p:cNvPr name="Freeform 22" id="2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6027175" y="6039227"/>
            <a:ext cx="1232125" cy="123212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CHALLENGE</a:t>
            </a:r>
          </a:p>
        </p:txBody>
      </p:sp>
      <p:sp>
        <p:nvSpPr>
          <p:cNvPr name="TextBox 28" id="28"/>
          <p:cNvSpPr txBox="true"/>
          <p:nvPr/>
        </p:nvSpPr>
        <p:spPr>
          <a:xfrm rot="0">
            <a:off x="12482593" y="784350"/>
            <a:ext cx="2349448" cy="249079"/>
          </a:xfrm>
          <a:prstGeom prst="rect">
            <a:avLst/>
          </a:prstGeom>
        </p:spPr>
        <p:txBody>
          <a:bodyPr anchor="t" rtlCol="false" tIns="0" lIns="0" bIns="0" rIns="0">
            <a:spAutoFit/>
          </a:bodyPr>
          <a:lstStyle/>
          <a:p>
            <a:pPr algn="ctr" marL="0" indent="0" lvl="0">
              <a:lnSpc>
                <a:spcPts val="2021"/>
              </a:lnSpc>
              <a:spcBef>
                <a:spcPct val="0"/>
              </a:spcBef>
            </a:pPr>
            <a:r>
              <a:rPr lang="en-US" sz="1443" spc="167">
                <a:solidFill>
                  <a:srgbClr val="000000"/>
                </a:solidFill>
                <a:latin typeface="Montserrat"/>
                <a:ea typeface="Montserrat"/>
                <a:cs typeface="Montserrat"/>
                <a:sym typeface="Montserrat"/>
              </a:rPr>
              <a:t>OVERVIEW</a:t>
            </a:r>
          </a:p>
        </p:txBody>
      </p:sp>
      <p:sp>
        <p:nvSpPr>
          <p:cNvPr name="TextBox 29" id="29"/>
          <p:cNvSpPr txBox="true"/>
          <p:nvPr/>
        </p:nvSpPr>
        <p:spPr>
          <a:xfrm rot="0">
            <a:off x="1161686" y="2582441"/>
            <a:ext cx="16097614" cy="2317043"/>
          </a:xfrm>
          <a:prstGeom prst="rect">
            <a:avLst/>
          </a:prstGeom>
        </p:spPr>
        <p:txBody>
          <a:bodyPr anchor="t" rtlCol="false" tIns="0" lIns="0" bIns="0" rIns="0">
            <a:spAutoFit/>
          </a:bodyPr>
          <a:lstStyle/>
          <a:p>
            <a:pPr algn="l" marL="0" indent="0" lvl="0">
              <a:lnSpc>
                <a:spcPts val="16710"/>
              </a:lnSpc>
            </a:pPr>
            <a:r>
              <a:rPr lang="en-US" b="true" sz="18989" spc="-1272">
                <a:solidFill>
                  <a:srgbClr val="000000"/>
                </a:solidFill>
                <a:latin typeface="Montserrat Bold"/>
                <a:ea typeface="Montserrat Bold"/>
                <a:cs typeface="Montserrat Bold"/>
                <a:sym typeface="Montserrat Bold"/>
              </a:rPr>
              <a:t>The Challenge</a:t>
            </a:r>
          </a:p>
        </p:txBody>
      </p:sp>
      <p:sp>
        <p:nvSpPr>
          <p:cNvPr name="TextBox 30" id="30"/>
          <p:cNvSpPr txBox="true"/>
          <p:nvPr/>
        </p:nvSpPr>
        <p:spPr>
          <a:xfrm rot="0">
            <a:off x="1247411" y="5636093"/>
            <a:ext cx="6823854" cy="1643680"/>
          </a:xfrm>
          <a:prstGeom prst="rect">
            <a:avLst/>
          </a:prstGeom>
        </p:spPr>
        <p:txBody>
          <a:bodyPr anchor="t" rtlCol="false" tIns="0" lIns="0" bIns="0" rIns="0">
            <a:spAutoFit/>
          </a:bodyPr>
          <a:lstStyle/>
          <a:p>
            <a:pPr algn="just" marL="0" indent="0" lvl="0">
              <a:lnSpc>
                <a:spcPts val="2175"/>
              </a:lnSpc>
            </a:pPr>
            <a:r>
              <a:rPr lang="en-US" sz="1660" spc="-59">
                <a:solidFill>
                  <a:srgbClr val="000000"/>
                </a:solidFill>
                <a:latin typeface="Montserrat"/>
                <a:ea typeface="Montserrat"/>
                <a:cs typeface="Montserrat"/>
                <a:sym typeface="Montserrat"/>
              </a:rPr>
              <a:t>Road traffic accidents cause over 1.3 million deaths globally each year. Weak enforcement of driver demerit systems contributes to reckless driving and repeated offences. RoadSafe360 simulates how transport authorities manage driver licensing using demerit points — bringing real-world road safety management into the PBL classroom to teach technology, civic responsibility, and data-driven decision making.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9" id="9"/>
          <p:cNvGrpSpPr/>
          <p:nvPr/>
        </p:nvGrpSpPr>
        <p:grpSpPr>
          <a:xfrm rot="0">
            <a:off x="1457525" y="2267813"/>
            <a:ext cx="5246370" cy="6649160"/>
            <a:chOff x="0" y="0"/>
            <a:chExt cx="812800" cy="1030129"/>
          </a:xfrm>
        </p:grpSpPr>
        <p:sp>
          <p:nvSpPr>
            <p:cNvPr name="Freeform 10" id="10"/>
            <p:cNvSpPr/>
            <p:nvPr/>
          </p:nvSpPr>
          <p:spPr>
            <a:xfrm flipH="false" flipV="false" rot="0">
              <a:off x="0" y="0"/>
              <a:ext cx="812800" cy="1030129"/>
            </a:xfrm>
            <a:custGeom>
              <a:avLst/>
              <a:gdLst/>
              <a:ahLst/>
              <a:cxnLst/>
              <a:rect r="r" b="b" t="t" l="l"/>
              <a:pathLst>
                <a:path h="1030129" w="812800">
                  <a:moveTo>
                    <a:pt x="60503" y="0"/>
                  </a:moveTo>
                  <a:lnTo>
                    <a:pt x="752297" y="0"/>
                  </a:lnTo>
                  <a:cubicBezTo>
                    <a:pt x="785712" y="0"/>
                    <a:pt x="812800" y="27088"/>
                    <a:pt x="812800" y="60503"/>
                  </a:cubicBezTo>
                  <a:lnTo>
                    <a:pt x="812800" y="969626"/>
                  </a:lnTo>
                  <a:cubicBezTo>
                    <a:pt x="812800" y="1003041"/>
                    <a:pt x="785712" y="1030129"/>
                    <a:pt x="752297" y="1030129"/>
                  </a:cubicBezTo>
                  <a:lnTo>
                    <a:pt x="60503" y="1030129"/>
                  </a:lnTo>
                  <a:cubicBezTo>
                    <a:pt x="27088" y="1030129"/>
                    <a:pt x="0" y="1003041"/>
                    <a:pt x="0" y="969626"/>
                  </a:cubicBezTo>
                  <a:lnTo>
                    <a:pt x="0" y="60503"/>
                  </a:lnTo>
                  <a:cubicBezTo>
                    <a:pt x="0" y="27088"/>
                    <a:pt x="27088" y="0"/>
                    <a:pt x="60503" y="0"/>
                  </a:cubicBezTo>
                  <a:close/>
                </a:path>
              </a:pathLst>
            </a:custGeom>
            <a:blipFill>
              <a:blip r:embed="rId4"/>
              <a:stretch>
                <a:fillRect l="0" t="-17" r="0" b="-17"/>
              </a:stretch>
            </a:blipFill>
          </p:spPr>
        </p:sp>
      </p:grpSp>
      <p:grpSp>
        <p:nvGrpSpPr>
          <p:cNvPr name="Group 11" id="11"/>
          <p:cNvGrpSpPr/>
          <p:nvPr/>
        </p:nvGrpSpPr>
        <p:grpSpPr>
          <a:xfrm rot="0">
            <a:off x="1126643" y="3024376"/>
            <a:ext cx="904854" cy="2610879"/>
            <a:chOff x="0" y="0"/>
            <a:chExt cx="238315" cy="687639"/>
          </a:xfrm>
        </p:grpSpPr>
        <p:sp>
          <p:nvSpPr>
            <p:cNvPr name="Freeform 12" id="1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3" id="1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4" id="14"/>
          <p:cNvGrpSpPr/>
          <p:nvPr/>
        </p:nvGrpSpPr>
        <p:grpSpPr>
          <a:xfrm rot="0">
            <a:off x="1126643" y="5511430"/>
            <a:ext cx="904854" cy="2610879"/>
            <a:chOff x="0" y="0"/>
            <a:chExt cx="238315" cy="687639"/>
          </a:xfrm>
        </p:grpSpPr>
        <p:sp>
          <p:nvSpPr>
            <p:cNvPr name="Freeform 15" id="15"/>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6" id="16"/>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7" id="17"/>
          <p:cNvGrpSpPr/>
          <p:nvPr/>
        </p:nvGrpSpPr>
        <p:grpSpPr>
          <a:xfrm rot="0">
            <a:off x="5940229" y="6286362"/>
            <a:ext cx="1527333" cy="152733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Freeform 20" id="20"/>
          <p:cNvSpPr/>
          <p:nvPr/>
        </p:nvSpPr>
        <p:spPr>
          <a:xfrm flipH="false" flipV="false" rot="0">
            <a:off x="12396383" y="1395995"/>
            <a:ext cx="5654034" cy="5654034"/>
          </a:xfrm>
          <a:custGeom>
            <a:avLst/>
            <a:gdLst/>
            <a:ahLst/>
            <a:cxnLst/>
            <a:rect r="r" b="b" t="t" l="l"/>
            <a:pathLst>
              <a:path h="5654034" w="5654034">
                <a:moveTo>
                  <a:pt x="0" y="0"/>
                </a:moveTo>
                <a:lnTo>
                  <a:pt x="5654033" y="0"/>
                </a:lnTo>
                <a:lnTo>
                  <a:pt x="5654033" y="5654034"/>
                </a:lnTo>
                <a:lnTo>
                  <a:pt x="0" y="5654034"/>
                </a:lnTo>
                <a:lnTo>
                  <a:pt x="0" y="0"/>
                </a:lnTo>
                <a:close/>
              </a:path>
            </a:pathLst>
          </a:custGeom>
          <a:blipFill>
            <a:blip r:embed="rId5">
              <a:alphaModFix amt="70000"/>
              <a:extLst>
                <a:ext uri="{96DAC541-7B7A-43D3-8B79-37D633B846F1}">
                  <asvg:svgBlip xmlns:asvg="http://schemas.microsoft.com/office/drawing/2016/SVG/main" r:embed="rId6"/>
                </a:ext>
              </a:extLst>
            </a:blip>
            <a:stretch>
              <a:fillRect l="0" t="0" r="0" b="0"/>
            </a:stretch>
          </a:blipFill>
        </p:spPr>
      </p:sp>
      <p:grpSp>
        <p:nvGrpSpPr>
          <p:cNvPr name="Group 21" id="21"/>
          <p:cNvGrpSpPr/>
          <p:nvPr/>
        </p:nvGrpSpPr>
        <p:grpSpPr>
          <a:xfrm rot="0">
            <a:off x="8144729" y="8185170"/>
            <a:ext cx="2437000" cy="787252"/>
            <a:chOff x="0" y="0"/>
            <a:chExt cx="641844" cy="207342"/>
          </a:xfrm>
        </p:grpSpPr>
        <p:sp>
          <p:nvSpPr>
            <p:cNvPr name="Freeform 22" id="22"/>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23" id="23"/>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sp>
        <p:nvSpPr>
          <p:cNvPr name="TextBox 24" id="24"/>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ROADSAFE360</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5" id="25"/>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26" id="26"/>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b="true" sz="1998">
                <a:solidFill>
                  <a:srgbClr val="000000"/>
                </a:solidFill>
                <a:latin typeface="Montserrat Bold"/>
                <a:ea typeface="Montserrat Bold"/>
                <a:cs typeface="Montserrat Bold"/>
                <a:sym typeface="Montserrat Bold"/>
              </a:rPr>
              <a:t>ABOUT</a:t>
            </a:r>
          </a:p>
        </p:txBody>
      </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CONTENT</a:t>
            </a:r>
          </a:p>
        </p:txBody>
      </p:sp>
      <p:sp>
        <p:nvSpPr>
          <p:cNvPr name="TextBox 28" id="28"/>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9" id="29"/>
          <p:cNvSpPr txBox="true"/>
          <p:nvPr/>
        </p:nvSpPr>
        <p:spPr>
          <a:xfrm rot="0">
            <a:off x="8059004" y="2149732"/>
            <a:ext cx="9114571" cy="2515362"/>
          </a:xfrm>
          <a:prstGeom prst="rect">
            <a:avLst/>
          </a:prstGeom>
        </p:spPr>
        <p:txBody>
          <a:bodyPr anchor="t" rtlCol="false" tIns="0" lIns="0" bIns="0" rIns="0">
            <a:spAutoFit/>
          </a:bodyPr>
          <a:lstStyle/>
          <a:p>
            <a:pPr algn="l" marL="0" indent="0" lvl="0">
              <a:lnSpc>
                <a:spcPts val="9504"/>
              </a:lnSpc>
            </a:pPr>
            <a:r>
              <a:rPr lang="en-US" b="true" sz="10800" spc="-723">
                <a:solidFill>
                  <a:srgbClr val="000000"/>
                </a:solidFill>
                <a:latin typeface="Montserrat Bold"/>
                <a:ea typeface="Montserrat Bold"/>
                <a:cs typeface="Montserrat Bold"/>
                <a:sym typeface="Montserrat Bold"/>
              </a:rPr>
              <a:t>What is</a:t>
            </a:r>
          </a:p>
          <a:p>
            <a:pPr algn="l" marL="0" indent="0" lvl="0">
              <a:lnSpc>
                <a:spcPts val="9504"/>
              </a:lnSpc>
            </a:pPr>
            <a:r>
              <a:rPr lang="en-US" b="true" sz="10800" spc="-723">
                <a:solidFill>
                  <a:srgbClr val="000000"/>
                </a:solidFill>
                <a:latin typeface="Montserrat Bold"/>
                <a:ea typeface="Montserrat Bold"/>
                <a:cs typeface="Montserrat Bold"/>
                <a:sym typeface="Montserrat Bold"/>
              </a:rPr>
              <a:t>RoadSafe360?</a:t>
            </a:r>
          </a:p>
        </p:txBody>
      </p:sp>
      <p:sp>
        <p:nvSpPr>
          <p:cNvPr name="TextBox 30" id="30"/>
          <p:cNvSpPr txBox="true"/>
          <p:nvPr/>
        </p:nvSpPr>
        <p:spPr>
          <a:xfrm rot="0">
            <a:off x="8239979" y="5559826"/>
            <a:ext cx="7654851" cy="2046864"/>
          </a:xfrm>
          <a:prstGeom prst="rect">
            <a:avLst/>
          </a:prstGeom>
        </p:spPr>
        <p:txBody>
          <a:bodyPr anchor="t" rtlCol="false" tIns="0" lIns="0" bIns="0" rIns="0">
            <a:spAutoFit/>
          </a:bodyPr>
          <a:lstStyle/>
          <a:p>
            <a:pPr algn="just" marL="0" indent="0" lvl="0">
              <a:lnSpc>
                <a:spcPts val="2774"/>
              </a:lnSpc>
            </a:pPr>
            <a:r>
              <a:rPr lang="en-US" sz="2117" spc="-76">
                <a:solidFill>
                  <a:srgbClr val="000000"/>
                </a:solidFill>
                <a:latin typeface="Montserrat"/>
                <a:ea typeface="Montserrat"/>
                <a:cs typeface="Montserrat"/>
                <a:sym typeface="Montserrat"/>
              </a:rPr>
              <a:t>RoadSafe360 is a full-stack web application simulating driver licence and traffic offence management. It features a role-based platform with four user tiers — Admin, Police, Driver, and Authority — each with a dedicated dashboard. The system covers the full offence lifecycle, appeals processing, digital licences with QR codes, and advanced analytics.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sp>
        <p:nvSpPr>
          <p:cNvPr name="Freeform 6" id="6"/>
          <p:cNvSpPr/>
          <p:nvPr/>
        </p:nvSpPr>
        <p:spPr>
          <a:xfrm flipH="false" flipV="false" rot="0">
            <a:off x="3273095" y="989614"/>
            <a:ext cx="7783144" cy="7783144"/>
          </a:xfrm>
          <a:custGeom>
            <a:avLst/>
            <a:gdLst/>
            <a:ahLst/>
            <a:cxnLst/>
            <a:rect r="r" b="b" t="t" l="l"/>
            <a:pathLst>
              <a:path h="7783144" w="7783144">
                <a:moveTo>
                  <a:pt x="0" y="0"/>
                </a:moveTo>
                <a:lnTo>
                  <a:pt x="7783144" y="0"/>
                </a:lnTo>
                <a:lnTo>
                  <a:pt x="7783144" y="7783144"/>
                </a:lnTo>
                <a:lnTo>
                  <a:pt x="0" y="7783144"/>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10" id="10"/>
          <p:cNvGrpSpPr/>
          <p:nvPr/>
        </p:nvGrpSpPr>
        <p:grpSpPr>
          <a:xfrm rot="0">
            <a:off x="1028700" y="4918852"/>
            <a:ext cx="16230600" cy="4216555"/>
            <a:chOff x="0" y="0"/>
            <a:chExt cx="2514545" cy="653255"/>
          </a:xfrm>
        </p:grpSpPr>
        <p:sp>
          <p:nvSpPr>
            <p:cNvPr name="Freeform 11" id="11"/>
            <p:cNvSpPr/>
            <p:nvPr/>
          </p:nvSpPr>
          <p:spPr>
            <a:xfrm flipH="false" flipV="false" rot="0">
              <a:off x="0" y="0"/>
              <a:ext cx="2514545" cy="653255"/>
            </a:xfrm>
            <a:custGeom>
              <a:avLst/>
              <a:gdLst/>
              <a:ahLst/>
              <a:cxnLst/>
              <a:rect r="r" b="b" t="t" l="l"/>
              <a:pathLst>
                <a:path h="653255" w="2514545">
                  <a:moveTo>
                    <a:pt x="19557" y="0"/>
                  </a:moveTo>
                  <a:lnTo>
                    <a:pt x="2494988" y="0"/>
                  </a:lnTo>
                  <a:cubicBezTo>
                    <a:pt x="2500175" y="0"/>
                    <a:pt x="2505149" y="2060"/>
                    <a:pt x="2508816" y="5728"/>
                  </a:cubicBezTo>
                  <a:cubicBezTo>
                    <a:pt x="2512484" y="9396"/>
                    <a:pt x="2514545" y="14370"/>
                    <a:pt x="2514545" y="19557"/>
                  </a:cubicBezTo>
                  <a:lnTo>
                    <a:pt x="2514545" y="633698"/>
                  </a:lnTo>
                  <a:cubicBezTo>
                    <a:pt x="2514545" y="638885"/>
                    <a:pt x="2512484" y="643859"/>
                    <a:pt x="2508816" y="647527"/>
                  </a:cubicBezTo>
                  <a:cubicBezTo>
                    <a:pt x="2505149" y="651194"/>
                    <a:pt x="2500175" y="653255"/>
                    <a:pt x="2494988" y="653255"/>
                  </a:cubicBezTo>
                  <a:lnTo>
                    <a:pt x="19557" y="653255"/>
                  </a:lnTo>
                  <a:cubicBezTo>
                    <a:pt x="14370" y="653255"/>
                    <a:pt x="9396" y="651194"/>
                    <a:pt x="5728" y="647527"/>
                  </a:cubicBezTo>
                  <a:cubicBezTo>
                    <a:pt x="2060" y="643859"/>
                    <a:pt x="0" y="638885"/>
                    <a:pt x="0" y="633698"/>
                  </a:cubicBezTo>
                  <a:lnTo>
                    <a:pt x="0" y="19557"/>
                  </a:lnTo>
                  <a:cubicBezTo>
                    <a:pt x="0" y="14370"/>
                    <a:pt x="2060" y="9396"/>
                    <a:pt x="5728" y="5728"/>
                  </a:cubicBezTo>
                  <a:cubicBezTo>
                    <a:pt x="9396" y="2060"/>
                    <a:pt x="14370" y="0"/>
                    <a:pt x="19557" y="0"/>
                  </a:cubicBezTo>
                  <a:close/>
                </a:path>
              </a:pathLst>
            </a:custGeom>
            <a:blipFill>
              <a:blip r:embed="rId6"/>
              <a:stretch>
                <a:fillRect l="0" t="-521" r="0" b="-521"/>
              </a:stretch>
            </a:blipFill>
          </p:spPr>
        </p:sp>
      </p:grpSp>
      <p:grpSp>
        <p:nvGrpSpPr>
          <p:cNvPr name="Group 12" id="12"/>
          <p:cNvGrpSpPr/>
          <p:nvPr/>
        </p:nvGrpSpPr>
        <p:grpSpPr>
          <a:xfrm rot="-5400000">
            <a:off x="2415785" y="8037703"/>
            <a:ext cx="760864" cy="2195408"/>
            <a:chOff x="0" y="0"/>
            <a:chExt cx="238315" cy="687639"/>
          </a:xfrm>
        </p:grpSpPr>
        <p:sp>
          <p:nvSpPr>
            <p:cNvPr name="Freeform 13" id="13"/>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4" id="14"/>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5" id="15"/>
          <p:cNvGrpSpPr/>
          <p:nvPr/>
        </p:nvGrpSpPr>
        <p:grpSpPr>
          <a:xfrm rot="-5400000">
            <a:off x="4507073" y="8037703"/>
            <a:ext cx="760864" cy="2195408"/>
            <a:chOff x="0" y="0"/>
            <a:chExt cx="238315" cy="687639"/>
          </a:xfrm>
        </p:grpSpPr>
        <p:sp>
          <p:nvSpPr>
            <p:cNvPr name="Freeform 16" id="16"/>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7" id="17"/>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8" id="18"/>
          <p:cNvGrpSpPr/>
          <p:nvPr/>
        </p:nvGrpSpPr>
        <p:grpSpPr>
          <a:xfrm rot="0">
            <a:off x="16491290" y="5442347"/>
            <a:ext cx="1326922" cy="132692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1" id="21"/>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ROADSAFE360</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2" id="22"/>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23" id="23"/>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TextBox 24" id="24"/>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STACK</a:t>
            </a:r>
          </a:p>
        </p:txBody>
      </p:sp>
      <p:sp>
        <p:nvSpPr>
          <p:cNvPr name="TextBox 25" id="25"/>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6" id="26"/>
          <p:cNvSpPr txBox="true"/>
          <p:nvPr/>
        </p:nvSpPr>
        <p:spPr>
          <a:xfrm rot="0">
            <a:off x="9304813" y="2150633"/>
            <a:ext cx="7954487" cy="2282444"/>
          </a:xfrm>
          <a:prstGeom prst="rect">
            <a:avLst/>
          </a:prstGeom>
        </p:spPr>
        <p:txBody>
          <a:bodyPr anchor="t" rtlCol="false" tIns="0" lIns="0" bIns="0" rIns="0">
            <a:spAutoFit/>
          </a:bodyPr>
          <a:lstStyle/>
          <a:p>
            <a:pPr algn="just" marL="0" indent="0" lvl="0">
              <a:lnSpc>
                <a:spcPts val="3012"/>
              </a:lnSpc>
            </a:pPr>
            <a:r>
              <a:rPr lang="en-US" sz="2299" spc="-82">
                <a:solidFill>
                  <a:srgbClr val="000000"/>
                </a:solidFill>
                <a:latin typeface="Montserrat"/>
                <a:ea typeface="Montserrat"/>
                <a:cs typeface="Montserrat"/>
                <a:sym typeface="Montserrat"/>
              </a:rPr>
              <a:t>Framework: Next.js 16 (App Router)  |  </a:t>
            </a:r>
          </a:p>
          <a:p>
            <a:pPr algn="just" marL="0" indent="0" lvl="0">
              <a:lnSpc>
                <a:spcPts val="3012"/>
              </a:lnSpc>
            </a:pPr>
            <a:r>
              <a:rPr lang="en-US" sz="2299" spc="-82">
                <a:solidFill>
                  <a:srgbClr val="000000"/>
                </a:solidFill>
                <a:latin typeface="Montserrat"/>
                <a:ea typeface="Montserrat"/>
                <a:cs typeface="Montserrat"/>
                <a:sym typeface="Montserrat"/>
              </a:rPr>
              <a:t>Frontend: React 19, TypeScript, Tailwind CSS 4  |  </a:t>
            </a:r>
          </a:p>
          <a:p>
            <a:pPr algn="just" marL="0" indent="0" lvl="0">
              <a:lnSpc>
                <a:spcPts val="3012"/>
              </a:lnSpc>
            </a:pPr>
            <a:r>
              <a:rPr lang="en-US" sz="2299" spc="-82">
                <a:solidFill>
                  <a:srgbClr val="000000"/>
                </a:solidFill>
                <a:latin typeface="Montserrat"/>
                <a:ea typeface="Montserrat"/>
                <a:cs typeface="Montserrat"/>
                <a:sym typeface="Montserrat"/>
              </a:rPr>
              <a:t>Backend: Firebase (Auth, Firestore, Storage)  |</a:t>
            </a:r>
          </a:p>
          <a:p>
            <a:pPr algn="just" marL="0" indent="0" lvl="0">
              <a:lnSpc>
                <a:spcPts val="3012"/>
              </a:lnSpc>
            </a:pPr>
            <a:r>
              <a:rPr lang="en-US" sz="2299" spc="-82">
                <a:solidFill>
                  <a:srgbClr val="000000"/>
                </a:solidFill>
                <a:latin typeface="Montserrat"/>
                <a:ea typeface="Montserrat"/>
                <a:cs typeface="Montserrat"/>
                <a:sym typeface="Montserrat"/>
              </a:rPr>
              <a:t>Maps: Leaflet + OpenStreetMap  |  </a:t>
            </a:r>
          </a:p>
          <a:p>
            <a:pPr algn="just" marL="0" indent="0" lvl="0">
              <a:lnSpc>
                <a:spcPts val="3012"/>
              </a:lnSpc>
            </a:pPr>
            <a:r>
              <a:rPr lang="en-US" sz="2299" spc="-82">
                <a:solidFill>
                  <a:srgbClr val="000000"/>
                </a:solidFill>
                <a:latin typeface="Montserrat"/>
                <a:ea typeface="Montserrat"/>
                <a:cs typeface="Montserrat"/>
                <a:sym typeface="Montserrat"/>
              </a:rPr>
              <a:t>Charts: Recharts  |  </a:t>
            </a:r>
          </a:p>
          <a:p>
            <a:pPr algn="just" marL="0" indent="0" lvl="0">
              <a:lnSpc>
                <a:spcPts val="3012"/>
              </a:lnSpc>
            </a:pPr>
            <a:r>
              <a:rPr lang="en-US" sz="2299" spc="-82">
                <a:solidFill>
                  <a:srgbClr val="000000"/>
                </a:solidFill>
                <a:latin typeface="Montserrat"/>
                <a:ea typeface="Montserrat"/>
                <a:cs typeface="Montserrat"/>
                <a:sym typeface="Montserrat"/>
              </a:rPr>
              <a:t>Theme: Light/Dark Mode Support</a:t>
            </a:r>
          </a:p>
        </p:txBody>
      </p:sp>
      <p:sp>
        <p:nvSpPr>
          <p:cNvPr name="TextBox 27" id="27"/>
          <p:cNvSpPr txBox="true"/>
          <p:nvPr/>
        </p:nvSpPr>
        <p:spPr>
          <a:xfrm rot="0">
            <a:off x="1126643" y="2255408"/>
            <a:ext cx="7822403" cy="1732173"/>
          </a:xfrm>
          <a:prstGeom prst="rect">
            <a:avLst/>
          </a:prstGeom>
        </p:spPr>
        <p:txBody>
          <a:bodyPr anchor="t" rtlCol="false" tIns="0" lIns="0" bIns="0" rIns="0">
            <a:spAutoFit/>
          </a:bodyPr>
          <a:lstStyle/>
          <a:p>
            <a:pPr algn="just" marL="0" indent="0" lvl="0">
              <a:lnSpc>
                <a:spcPts val="6732"/>
              </a:lnSpc>
            </a:pPr>
            <a:r>
              <a:rPr lang="en-US" b="true" sz="6351" spc="-425">
                <a:solidFill>
                  <a:srgbClr val="000000"/>
                </a:solidFill>
                <a:latin typeface="Montserrat Bold"/>
                <a:ea typeface="Montserrat Bold"/>
                <a:cs typeface="Montserrat Bold"/>
                <a:sym typeface="Montserrat Bold"/>
              </a:rPr>
              <a:t>Technical</a:t>
            </a:r>
          </a:p>
          <a:p>
            <a:pPr algn="just" marL="0" indent="0" lvl="0">
              <a:lnSpc>
                <a:spcPts val="6732"/>
              </a:lnSpc>
            </a:pPr>
            <a:r>
              <a:rPr lang="en-US" b="true" sz="6351" spc="-425">
                <a:solidFill>
                  <a:srgbClr val="000000"/>
                </a:solidFill>
                <a:latin typeface="Montserrat Bold"/>
                <a:ea typeface="Montserrat Bold"/>
                <a:cs typeface="Montserrat Bold"/>
                <a:sym typeface="Montserrat Bold"/>
              </a:rPr>
              <a:t>Stack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ROADSAFE360</a:t>
            </a:r>
          </a:p>
          <a:p>
            <a:pPr algn="l" marL="0" indent="0" lvl="0">
              <a:lnSpc>
                <a:spcPts val="2252"/>
              </a:lnSpc>
            </a:pPr>
            <a:r>
              <a:rPr lang="en-US" b="true" sz="2298" spc="62">
                <a:solidFill>
                  <a:srgbClr val="000000"/>
                </a:solidFill>
                <a:latin typeface="Montserrat Bold"/>
                <a:ea typeface="Montserrat Bold"/>
                <a:cs typeface="Montserrat Bold"/>
                <a:sym typeface="Montserrat Bold"/>
              </a:rPr>
              <a:t>PBL PROJECT</a:t>
            </a:r>
          </a:p>
        </p:txBody>
      </p:sp>
      <p:sp>
        <p:nvSpPr>
          <p:cNvPr name="TextBox 10" id="10"/>
          <p:cNvSpPr txBox="true"/>
          <p:nvPr/>
        </p:nvSpPr>
        <p:spPr>
          <a:xfrm rot="0">
            <a:off x="5718971" y="793875"/>
            <a:ext cx="1755559" cy="248015"/>
          </a:xfrm>
          <a:prstGeom prst="rect">
            <a:avLst/>
          </a:prstGeom>
        </p:spPr>
        <p:txBody>
          <a:bodyPr anchor="t" rtlCol="false" tIns="0" lIns="0" bIns="0" rIns="0">
            <a:spAutoFit/>
          </a:bodyPr>
          <a:lstStyle/>
          <a:p>
            <a:pPr algn="ctr" marL="0" indent="0" lvl="0">
              <a:lnSpc>
                <a:spcPts val="2079"/>
              </a:lnSpc>
              <a:spcBef>
                <a:spcPct val="0"/>
              </a:spcBef>
            </a:pPr>
            <a:r>
              <a:rPr lang="en-US" sz="1485" spc="172">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248015"/>
          </a:xfrm>
          <a:prstGeom prst="rect">
            <a:avLst/>
          </a:prstGeom>
        </p:spPr>
        <p:txBody>
          <a:bodyPr anchor="t" rtlCol="false" tIns="0" lIns="0" bIns="0" rIns="0">
            <a:spAutoFit/>
          </a:bodyPr>
          <a:lstStyle/>
          <a:p>
            <a:pPr algn="ctr" marL="0" indent="0" lvl="0">
              <a:lnSpc>
                <a:spcPts val="2079"/>
              </a:lnSpc>
              <a:spcBef>
                <a:spcPct val="0"/>
              </a:spcBef>
            </a:pPr>
            <a:r>
              <a:rPr lang="en-US" sz="1485">
                <a:solidFill>
                  <a:srgbClr val="000000"/>
                </a:solidFill>
                <a:latin typeface="Montserrat"/>
                <a:ea typeface="Montserrat"/>
                <a:cs typeface="Montserrat"/>
                <a:sym typeface="Montserrat"/>
              </a:rPr>
              <a:t>ABOUT</a:t>
            </a:r>
          </a:p>
        </p:txBody>
      </p:sp>
      <p:sp>
        <p:nvSpPr>
          <p:cNvPr name="TextBox 12" id="12"/>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FEATURES</a:t>
            </a:r>
          </a:p>
        </p:txBody>
      </p:sp>
      <p:sp>
        <p:nvSpPr>
          <p:cNvPr name="TextBox 13" id="13"/>
          <p:cNvSpPr txBox="true"/>
          <p:nvPr/>
        </p:nvSpPr>
        <p:spPr>
          <a:xfrm rot="0">
            <a:off x="12482593" y="793875"/>
            <a:ext cx="2349448" cy="248015"/>
          </a:xfrm>
          <a:prstGeom prst="rect">
            <a:avLst/>
          </a:prstGeom>
        </p:spPr>
        <p:txBody>
          <a:bodyPr anchor="t" rtlCol="false" tIns="0" lIns="0" bIns="0" rIns="0">
            <a:spAutoFit/>
          </a:bodyPr>
          <a:lstStyle/>
          <a:p>
            <a:pPr algn="ctr" marL="0" indent="0" lvl="0">
              <a:lnSpc>
                <a:spcPts val="2079"/>
              </a:lnSpc>
              <a:spcBef>
                <a:spcPct val="0"/>
              </a:spcBef>
            </a:pPr>
            <a:r>
              <a:rPr lang="en-US" sz="1485" spc="172">
                <a:solidFill>
                  <a:srgbClr val="000000"/>
                </a:solidFill>
                <a:latin typeface="Montserrat"/>
                <a:ea typeface="Montserrat"/>
                <a:cs typeface="Montserrat"/>
                <a:sym typeface="Montserrat"/>
              </a:rPr>
              <a:t>OTHERS</a:t>
            </a:r>
          </a:p>
        </p:txBody>
      </p:sp>
      <p:sp>
        <p:nvSpPr>
          <p:cNvPr name="Freeform 14" id="14"/>
          <p:cNvSpPr/>
          <p:nvPr/>
        </p:nvSpPr>
        <p:spPr>
          <a:xfrm flipH="false" flipV="false" rot="0">
            <a:off x="9966814" y="1722321"/>
            <a:ext cx="6923629" cy="6923629"/>
          </a:xfrm>
          <a:custGeom>
            <a:avLst/>
            <a:gdLst/>
            <a:ahLst/>
            <a:cxnLst/>
            <a:rect r="r" b="b" t="t" l="l"/>
            <a:pathLst>
              <a:path h="6923629" w="6923629">
                <a:moveTo>
                  <a:pt x="0" y="0"/>
                </a:moveTo>
                <a:lnTo>
                  <a:pt x="6923629" y="0"/>
                </a:lnTo>
                <a:lnTo>
                  <a:pt x="6923629" y="6923628"/>
                </a:lnTo>
                <a:lnTo>
                  <a:pt x="0" y="6923628"/>
                </a:lnTo>
                <a:lnTo>
                  <a:pt x="0" y="0"/>
                </a:lnTo>
                <a:close/>
              </a:path>
            </a:pathLst>
          </a:custGeom>
          <a:blipFill>
            <a:blip r:embed="rId4">
              <a:alphaModFix amt="70000"/>
            </a:blip>
            <a:stretch>
              <a:fillRect l="0" t="0" r="0" b="0"/>
            </a:stretch>
          </a:blipFill>
        </p:spPr>
      </p:sp>
      <p:sp>
        <p:nvSpPr>
          <p:cNvPr name="Freeform 15" id="15"/>
          <p:cNvSpPr/>
          <p:nvPr/>
        </p:nvSpPr>
        <p:spPr>
          <a:xfrm flipH="false" flipV="false" rot="0">
            <a:off x="-1270377" y="3341307"/>
            <a:ext cx="10121480" cy="10121480"/>
          </a:xfrm>
          <a:custGeom>
            <a:avLst/>
            <a:gdLst/>
            <a:ahLst/>
            <a:cxnLst/>
            <a:rect r="r" b="b" t="t" l="l"/>
            <a:pathLst>
              <a:path h="10121480" w="10121480">
                <a:moveTo>
                  <a:pt x="0" y="0"/>
                </a:moveTo>
                <a:lnTo>
                  <a:pt x="10121480" y="0"/>
                </a:lnTo>
                <a:lnTo>
                  <a:pt x="10121480" y="10121481"/>
                </a:lnTo>
                <a:lnTo>
                  <a:pt x="0" y="10121481"/>
                </a:lnTo>
                <a:lnTo>
                  <a:pt x="0" y="0"/>
                </a:lnTo>
                <a:close/>
              </a:path>
            </a:pathLst>
          </a:custGeom>
          <a:blipFill>
            <a:blip r:embed="rId5">
              <a:alphaModFix amt="70000"/>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126643" y="2352667"/>
            <a:ext cx="11639593" cy="3441557"/>
          </a:xfrm>
          <a:prstGeom prst="rect">
            <a:avLst/>
          </a:prstGeom>
        </p:spPr>
        <p:txBody>
          <a:bodyPr anchor="t" rtlCol="false" tIns="0" lIns="0" bIns="0" rIns="0">
            <a:spAutoFit/>
          </a:bodyPr>
          <a:lstStyle/>
          <a:p>
            <a:pPr algn="l" marL="0" indent="0" lvl="0">
              <a:lnSpc>
                <a:spcPts val="13322"/>
              </a:lnSpc>
            </a:pPr>
            <a:r>
              <a:rPr lang="en-US" b="true" sz="12934" spc="-866">
                <a:solidFill>
                  <a:srgbClr val="000000"/>
                </a:solidFill>
                <a:latin typeface="Montserrat Bold"/>
                <a:ea typeface="Montserrat Bold"/>
                <a:cs typeface="Montserrat Bold"/>
                <a:sym typeface="Montserrat Bold"/>
              </a:rPr>
              <a:t>Key Features</a:t>
            </a:r>
          </a:p>
          <a:p>
            <a:pPr algn="l" marL="0" indent="0" lvl="0">
              <a:lnSpc>
                <a:spcPts val="13322"/>
              </a:lnSpc>
            </a:pPr>
            <a:r>
              <a:rPr lang="en-US" b="true" sz="12934" spc="-866">
                <a:solidFill>
                  <a:srgbClr val="000000"/>
                </a:solidFill>
                <a:latin typeface="Montserrat Bold"/>
                <a:ea typeface="Montserrat Bold"/>
                <a:cs typeface="Montserrat Bold"/>
                <a:sym typeface="Montserrat Bold"/>
              </a:rPr>
              <a:t>Overview</a:t>
            </a:r>
          </a:p>
        </p:txBody>
      </p:sp>
      <p:sp>
        <p:nvSpPr>
          <p:cNvPr name="TextBox 17" id="17"/>
          <p:cNvSpPr txBox="true"/>
          <p:nvPr/>
        </p:nvSpPr>
        <p:spPr>
          <a:xfrm rot="0">
            <a:off x="9304813" y="6794411"/>
            <a:ext cx="7654851" cy="2204983"/>
          </a:xfrm>
          <a:prstGeom prst="rect">
            <a:avLst/>
          </a:prstGeom>
        </p:spPr>
        <p:txBody>
          <a:bodyPr anchor="t" rtlCol="false" tIns="0" lIns="0" bIns="0" rIns="0">
            <a:spAutoFit/>
          </a:bodyPr>
          <a:lstStyle/>
          <a:p>
            <a:pPr algn="just" marL="0" indent="0" lvl="0">
              <a:lnSpc>
                <a:spcPts val="2238"/>
              </a:lnSpc>
            </a:pPr>
            <a:r>
              <a:rPr lang="en-US" sz="1708" spc="-61">
                <a:solidFill>
                  <a:srgbClr val="000000"/>
                </a:solidFill>
                <a:latin typeface="Montserrat"/>
                <a:ea typeface="Montserrat"/>
                <a:cs typeface="Montserrat"/>
                <a:sym typeface="Montserrat"/>
              </a:rPr>
              <a:t>• Authentication with 4 role-based dashboards</a:t>
            </a:r>
          </a:p>
          <a:p>
            <a:pPr algn="just" marL="0" indent="0" lvl="0">
              <a:lnSpc>
                <a:spcPts val="2238"/>
              </a:lnSpc>
            </a:pPr>
            <a:r>
              <a:rPr lang="en-US" sz="1708" spc="-61">
                <a:solidFill>
                  <a:srgbClr val="000000"/>
                </a:solidFill>
                <a:latin typeface="Montserrat"/>
                <a:ea typeface="Montserrat"/>
                <a:cs typeface="Montserrat"/>
                <a:sym typeface="Montserrat"/>
              </a:rPr>
              <a:t>• Driver management &amp; licence tracking</a:t>
            </a:r>
          </a:p>
          <a:p>
            <a:pPr algn="just" marL="0" indent="0" lvl="0">
              <a:lnSpc>
                <a:spcPts val="2238"/>
              </a:lnSpc>
            </a:pPr>
            <a:r>
              <a:rPr lang="en-US" sz="1708" spc="-61">
                <a:solidFill>
                  <a:srgbClr val="000000"/>
                </a:solidFill>
                <a:latin typeface="Montserrat"/>
                <a:ea typeface="Montserrat"/>
                <a:cs typeface="Montserrat"/>
                <a:sym typeface="Montserrat"/>
              </a:rPr>
              <a:t>• Traffic offence issuance with GPS &amp; evidence</a:t>
            </a:r>
          </a:p>
          <a:p>
            <a:pPr algn="just" marL="0" indent="0" lvl="0">
              <a:lnSpc>
                <a:spcPts val="2238"/>
              </a:lnSpc>
            </a:pPr>
            <a:r>
              <a:rPr lang="en-US" sz="1708" spc="-61">
                <a:solidFill>
                  <a:srgbClr val="000000"/>
                </a:solidFill>
                <a:latin typeface="Montserrat"/>
                <a:ea typeface="Montserrat"/>
                <a:cs typeface="Montserrat"/>
                <a:sym typeface="Montserrat"/>
              </a:rPr>
              <a:t>• Appeals system with status tracking</a:t>
            </a:r>
          </a:p>
          <a:p>
            <a:pPr algn="just" marL="0" indent="0" lvl="0">
              <a:lnSpc>
                <a:spcPts val="2238"/>
              </a:lnSpc>
            </a:pPr>
            <a:r>
              <a:rPr lang="en-US" sz="1708" spc="-61">
                <a:solidFill>
                  <a:srgbClr val="000000"/>
                </a:solidFill>
                <a:latin typeface="Montserrat"/>
                <a:ea typeface="Montserrat"/>
                <a:cs typeface="Montserrat"/>
                <a:sym typeface="Montserrat"/>
              </a:rPr>
              <a:t>• Digital licence with QR code &amp; PDF export</a:t>
            </a:r>
          </a:p>
          <a:p>
            <a:pPr algn="just" marL="0" indent="0" lvl="0">
              <a:lnSpc>
                <a:spcPts val="2238"/>
              </a:lnSpc>
            </a:pPr>
            <a:r>
              <a:rPr lang="en-US" sz="1708" spc="-61">
                <a:solidFill>
                  <a:srgbClr val="000000"/>
                </a:solidFill>
                <a:latin typeface="Montserrat"/>
                <a:ea typeface="Montserrat"/>
                <a:cs typeface="Montserrat"/>
                <a:sym typeface="Montserrat"/>
              </a:rPr>
              <a:t>• Regional road safety stats</a:t>
            </a:r>
          </a:p>
          <a:p>
            <a:pPr algn="just" marL="0" indent="0" lvl="0">
              <a:lnSpc>
                <a:spcPts val="2238"/>
              </a:lnSpc>
            </a:pPr>
            <a:r>
              <a:rPr lang="en-US" sz="1708" spc="-61">
                <a:solidFill>
                  <a:srgbClr val="000000"/>
                </a:solidFill>
                <a:latin typeface="Montserrat"/>
                <a:ea typeface="Montserrat"/>
                <a:cs typeface="Montserrat"/>
                <a:sym typeface="Montserrat"/>
              </a:rPr>
              <a:t>• Reports &amp; analytics exports (PDF, Excel, CSV)</a:t>
            </a:r>
          </a:p>
          <a:p>
            <a:pPr algn="just" marL="0" indent="0" lvl="0">
              <a:lnSpc>
                <a:spcPts val="2238"/>
              </a:lnSpc>
            </a:pPr>
            <a:r>
              <a:rPr lang="en-US" sz="1708" spc="-61">
                <a:solidFill>
                  <a:srgbClr val="000000"/>
                </a:solidFill>
                <a:latin typeface="Montserrat"/>
                <a:ea typeface="Montserrat"/>
                <a:cs typeface="Montserrat"/>
                <a:sym typeface="Montserrat"/>
              </a:rPr>
              <a:t>• Real-time notifications &amp; interactive maps</a:t>
            </a:r>
          </a:p>
        </p:txBody>
      </p:sp>
      <p:grpSp>
        <p:nvGrpSpPr>
          <p:cNvPr name="Group 18" id="18"/>
          <p:cNvGrpSpPr/>
          <p:nvPr/>
        </p:nvGrpSpPr>
        <p:grpSpPr>
          <a:xfrm rot="0">
            <a:off x="16281457" y="2312298"/>
            <a:ext cx="678206" cy="1956906"/>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0000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0">
            <a:off x="16281457" y="4269204"/>
            <a:ext cx="678206" cy="1864097"/>
            <a:chOff x="0" y="0"/>
            <a:chExt cx="238315" cy="655027"/>
          </a:xfrm>
        </p:grpSpPr>
        <p:sp>
          <p:nvSpPr>
            <p:cNvPr name="Freeform 22" id="22"/>
            <p:cNvSpPr/>
            <p:nvPr/>
          </p:nvSpPr>
          <p:spPr>
            <a:xfrm flipH="false" flipV="false" rot="0">
              <a:off x="0" y="0"/>
              <a:ext cx="238315" cy="655027"/>
            </a:xfrm>
            <a:custGeom>
              <a:avLst/>
              <a:gdLst/>
              <a:ahLst/>
              <a:cxnLst/>
              <a:rect r="r" b="b" t="t" l="l"/>
              <a:pathLst>
                <a:path h="655027" w="238315">
                  <a:moveTo>
                    <a:pt x="119158" y="0"/>
                  </a:moveTo>
                  <a:lnTo>
                    <a:pt x="119158" y="0"/>
                  </a:lnTo>
                  <a:cubicBezTo>
                    <a:pt x="184967" y="0"/>
                    <a:pt x="238315" y="53349"/>
                    <a:pt x="238315" y="119158"/>
                  </a:cubicBezTo>
                  <a:lnTo>
                    <a:pt x="238315" y="535869"/>
                  </a:lnTo>
                  <a:cubicBezTo>
                    <a:pt x="238315" y="601678"/>
                    <a:pt x="184967" y="655027"/>
                    <a:pt x="119158" y="655027"/>
                  </a:cubicBezTo>
                  <a:lnTo>
                    <a:pt x="119158" y="655027"/>
                  </a:lnTo>
                  <a:cubicBezTo>
                    <a:pt x="53349" y="655027"/>
                    <a:pt x="0" y="601678"/>
                    <a:pt x="0" y="535869"/>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693127"/>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126643" y="8162906"/>
            <a:ext cx="904424" cy="904424"/>
            <a:chOff x="0" y="0"/>
            <a:chExt cx="673100" cy="673100"/>
          </a:xfrm>
        </p:grpSpPr>
        <p:sp>
          <p:nvSpPr>
            <p:cNvPr name="Freeform 25" id="25"/>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000000"/>
            </a:solidFill>
          </p:spPr>
        </p:sp>
        <p:sp>
          <p:nvSpPr>
            <p:cNvPr name="TextBox 26" id="26"/>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ROADSAFE360</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Freeform 12" id="12"/>
          <p:cNvSpPr/>
          <p:nvPr/>
        </p:nvSpPr>
        <p:spPr>
          <a:xfrm flipH="false" flipV="false" rot="0">
            <a:off x="1940383" y="1074818"/>
            <a:ext cx="6910721" cy="6910721"/>
          </a:xfrm>
          <a:custGeom>
            <a:avLst/>
            <a:gdLst/>
            <a:ahLst/>
            <a:cxnLst/>
            <a:rect r="r" b="b" t="t" l="l"/>
            <a:pathLst>
              <a:path h="6910721" w="6910721">
                <a:moveTo>
                  <a:pt x="0" y="0"/>
                </a:moveTo>
                <a:lnTo>
                  <a:pt x="6910720" y="0"/>
                </a:lnTo>
                <a:lnTo>
                  <a:pt x="6910720"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9144000" y="5578105"/>
            <a:ext cx="7613208" cy="3386493"/>
            <a:chOff x="0" y="0"/>
            <a:chExt cx="1179485" cy="524656"/>
          </a:xfrm>
        </p:grpSpPr>
        <p:sp>
          <p:nvSpPr>
            <p:cNvPr name="Freeform 14" id="14"/>
            <p:cNvSpPr/>
            <p:nvPr/>
          </p:nvSpPr>
          <p:spPr>
            <a:xfrm flipH="false" flipV="false" rot="0">
              <a:off x="0" y="0"/>
              <a:ext cx="1179485" cy="524656"/>
            </a:xfrm>
            <a:custGeom>
              <a:avLst/>
              <a:gdLst/>
              <a:ahLst/>
              <a:cxnLst/>
              <a:rect r="r" b="b" t="t" l="l"/>
              <a:pathLst>
                <a:path h="524656" w="1179485">
                  <a:moveTo>
                    <a:pt x="41693" y="0"/>
                  </a:moveTo>
                  <a:lnTo>
                    <a:pt x="1137792" y="0"/>
                  </a:lnTo>
                  <a:cubicBezTo>
                    <a:pt x="1160818" y="0"/>
                    <a:pt x="1179485" y="18667"/>
                    <a:pt x="1179485" y="41693"/>
                  </a:cubicBezTo>
                  <a:lnTo>
                    <a:pt x="1179485" y="482963"/>
                  </a:lnTo>
                  <a:cubicBezTo>
                    <a:pt x="1179485" y="505990"/>
                    <a:pt x="1160818" y="524656"/>
                    <a:pt x="1137792" y="524656"/>
                  </a:cubicBezTo>
                  <a:lnTo>
                    <a:pt x="41693" y="524656"/>
                  </a:lnTo>
                  <a:cubicBezTo>
                    <a:pt x="18667" y="524656"/>
                    <a:pt x="0" y="505990"/>
                    <a:pt x="0" y="482963"/>
                  </a:cubicBezTo>
                  <a:lnTo>
                    <a:pt x="0" y="41693"/>
                  </a:lnTo>
                  <a:cubicBezTo>
                    <a:pt x="0" y="18667"/>
                    <a:pt x="18667" y="0"/>
                    <a:pt x="41693" y="0"/>
                  </a:cubicBezTo>
                  <a:close/>
                </a:path>
              </a:pathLst>
            </a:custGeom>
            <a:blipFill>
              <a:blip r:embed="rId6"/>
              <a:stretch>
                <a:fillRect l="0" t="-722" r="0" b="-722"/>
              </a:stretch>
            </a:blipFill>
          </p:spPr>
        </p:sp>
      </p:grpSp>
      <p:grpSp>
        <p:nvGrpSpPr>
          <p:cNvPr name="Group 15" id="15"/>
          <p:cNvGrpSpPr/>
          <p:nvPr/>
        </p:nvGrpSpPr>
        <p:grpSpPr>
          <a:xfrm rot="0">
            <a:off x="1247411" y="7985538"/>
            <a:ext cx="2437000" cy="787252"/>
            <a:chOff x="0" y="0"/>
            <a:chExt cx="641844" cy="207342"/>
          </a:xfrm>
        </p:grpSpPr>
        <p:sp>
          <p:nvSpPr>
            <p:cNvPr name="Freeform 16" id="16"/>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7" id="17"/>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grpSp>
        <p:nvGrpSpPr>
          <p:cNvPr name="Group 18" id="18"/>
          <p:cNvGrpSpPr/>
          <p:nvPr/>
        </p:nvGrpSpPr>
        <p:grpSpPr>
          <a:xfrm rot="-5400000">
            <a:off x="10315569" y="7780164"/>
            <a:ext cx="760864" cy="2195408"/>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5400000">
            <a:off x="12406857" y="7780164"/>
            <a:ext cx="760864" cy="2195408"/>
            <a:chOff x="0" y="0"/>
            <a:chExt cx="238315" cy="687639"/>
          </a:xfrm>
        </p:grpSpPr>
        <p:sp>
          <p:nvSpPr>
            <p:cNvPr name="Freeform 22" id="2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6027175" y="6039227"/>
            <a:ext cx="1232125" cy="123212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28" id="28"/>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9" id="29"/>
          <p:cNvSpPr txBox="true"/>
          <p:nvPr/>
        </p:nvSpPr>
        <p:spPr>
          <a:xfrm rot="0">
            <a:off x="1161686" y="2449091"/>
            <a:ext cx="16097614" cy="1754134"/>
          </a:xfrm>
          <a:prstGeom prst="rect">
            <a:avLst/>
          </a:prstGeom>
        </p:spPr>
        <p:txBody>
          <a:bodyPr anchor="t" rtlCol="false" tIns="0" lIns="0" bIns="0" rIns="0">
            <a:spAutoFit/>
          </a:bodyPr>
          <a:lstStyle/>
          <a:p>
            <a:pPr algn="l" marL="0" indent="0" lvl="0">
              <a:lnSpc>
                <a:spcPts val="12708"/>
              </a:lnSpc>
            </a:pPr>
            <a:r>
              <a:rPr lang="en-US" b="true" sz="14441" spc="-967">
                <a:solidFill>
                  <a:srgbClr val="000000"/>
                </a:solidFill>
                <a:latin typeface="Montserrat Bold"/>
                <a:ea typeface="Montserrat Bold"/>
                <a:cs typeface="Montserrat Bold"/>
                <a:sym typeface="Montserrat Bold"/>
              </a:rPr>
              <a:t>Role-Based Access</a:t>
            </a:r>
          </a:p>
        </p:txBody>
      </p:sp>
      <p:sp>
        <p:nvSpPr>
          <p:cNvPr name="TextBox 30" id="30"/>
          <p:cNvSpPr txBox="true"/>
          <p:nvPr/>
        </p:nvSpPr>
        <p:spPr>
          <a:xfrm rot="0">
            <a:off x="1247411" y="5617043"/>
            <a:ext cx="6823854" cy="1760610"/>
          </a:xfrm>
          <a:prstGeom prst="rect">
            <a:avLst/>
          </a:prstGeom>
        </p:spPr>
        <p:txBody>
          <a:bodyPr anchor="t" rtlCol="false" tIns="0" lIns="0" bIns="0" rIns="0">
            <a:spAutoFit/>
          </a:bodyPr>
          <a:lstStyle/>
          <a:p>
            <a:pPr algn="just" marL="0" indent="0" lvl="0">
              <a:lnSpc>
                <a:spcPts val="2821"/>
              </a:lnSpc>
            </a:pPr>
            <a:r>
              <a:rPr lang="en-US" sz="2153" spc="-77">
                <a:solidFill>
                  <a:srgbClr val="000000"/>
                </a:solidFill>
                <a:latin typeface="Montserrat"/>
                <a:ea typeface="Montserrat"/>
                <a:cs typeface="Montserrat"/>
                <a:sym typeface="Montserrat"/>
              </a:rPr>
              <a:t>🛡️ Admin: Manage drivers, licences &amp; system settings</a:t>
            </a:r>
          </a:p>
          <a:p>
            <a:pPr algn="just" marL="0" indent="0" lvl="0">
              <a:lnSpc>
                <a:spcPts val="2821"/>
              </a:lnSpc>
            </a:pPr>
            <a:r>
              <a:rPr lang="en-US" sz="2153" spc="-77">
                <a:solidFill>
                  <a:srgbClr val="000000"/>
                </a:solidFill>
                <a:latin typeface="Montserrat"/>
                <a:ea typeface="Montserrat"/>
                <a:cs typeface="Montserrat"/>
                <a:sym typeface="Montserrat"/>
              </a:rPr>
              <a:t>👮 Police: Issue offences, access cases &amp; appeals</a:t>
            </a:r>
          </a:p>
          <a:p>
            <a:pPr algn="just" marL="0" indent="0" lvl="0">
              <a:lnSpc>
                <a:spcPts val="2821"/>
              </a:lnSpc>
            </a:pPr>
            <a:r>
              <a:rPr lang="en-US" sz="2153" spc="-77">
                <a:solidFill>
                  <a:srgbClr val="000000"/>
                </a:solidFill>
                <a:latin typeface="Montserrat"/>
                <a:ea typeface="Montserrat"/>
                <a:cs typeface="Montserrat"/>
                <a:sym typeface="Montserrat"/>
              </a:rPr>
              <a:t>🪪 Driver: View points, offences, appeals &amp; digital licence</a:t>
            </a:r>
          </a:p>
          <a:p>
            <a:pPr algn="just" marL="0" indent="0" lvl="0">
              <a:lnSpc>
                <a:spcPts val="2821"/>
              </a:lnSpc>
            </a:pPr>
            <a:r>
              <a:rPr lang="en-US" sz="2153" spc="-77">
                <a:solidFill>
                  <a:srgbClr val="000000"/>
                </a:solidFill>
                <a:latin typeface="Montserrat"/>
                <a:ea typeface="Montserrat"/>
                <a:cs typeface="Montserrat"/>
                <a:sym typeface="Montserrat"/>
              </a:rPr>
              <a:t>📊 Authority: National KPIs, trends &amp; revenue analytics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CONSULTING REPORT</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Freeform 12" id="12"/>
          <p:cNvSpPr/>
          <p:nvPr/>
        </p:nvSpPr>
        <p:spPr>
          <a:xfrm flipH="false" flipV="false" rot="0">
            <a:off x="1940383" y="1074818"/>
            <a:ext cx="6910721" cy="6910721"/>
          </a:xfrm>
          <a:custGeom>
            <a:avLst/>
            <a:gdLst/>
            <a:ahLst/>
            <a:cxnLst/>
            <a:rect r="r" b="b" t="t" l="l"/>
            <a:pathLst>
              <a:path h="6910721" w="6910721">
                <a:moveTo>
                  <a:pt x="0" y="0"/>
                </a:moveTo>
                <a:lnTo>
                  <a:pt x="6910720" y="0"/>
                </a:lnTo>
                <a:lnTo>
                  <a:pt x="6910720"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9144000" y="5578105"/>
            <a:ext cx="7613208" cy="3386493"/>
            <a:chOff x="0" y="0"/>
            <a:chExt cx="1179485" cy="524656"/>
          </a:xfrm>
        </p:grpSpPr>
        <p:sp>
          <p:nvSpPr>
            <p:cNvPr name="Freeform 14" id="14"/>
            <p:cNvSpPr/>
            <p:nvPr/>
          </p:nvSpPr>
          <p:spPr>
            <a:xfrm flipH="false" flipV="false" rot="0">
              <a:off x="0" y="0"/>
              <a:ext cx="1179485" cy="524656"/>
            </a:xfrm>
            <a:custGeom>
              <a:avLst/>
              <a:gdLst/>
              <a:ahLst/>
              <a:cxnLst/>
              <a:rect r="r" b="b" t="t" l="l"/>
              <a:pathLst>
                <a:path h="524656" w="1179485">
                  <a:moveTo>
                    <a:pt x="41693" y="0"/>
                  </a:moveTo>
                  <a:lnTo>
                    <a:pt x="1137792" y="0"/>
                  </a:lnTo>
                  <a:cubicBezTo>
                    <a:pt x="1160818" y="0"/>
                    <a:pt x="1179485" y="18667"/>
                    <a:pt x="1179485" y="41693"/>
                  </a:cubicBezTo>
                  <a:lnTo>
                    <a:pt x="1179485" y="482963"/>
                  </a:lnTo>
                  <a:cubicBezTo>
                    <a:pt x="1179485" y="505990"/>
                    <a:pt x="1160818" y="524656"/>
                    <a:pt x="1137792" y="524656"/>
                  </a:cubicBezTo>
                  <a:lnTo>
                    <a:pt x="41693" y="524656"/>
                  </a:lnTo>
                  <a:cubicBezTo>
                    <a:pt x="18667" y="524656"/>
                    <a:pt x="0" y="505990"/>
                    <a:pt x="0" y="482963"/>
                  </a:cubicBezTo>
                  <a:lnTo>
                    <a:pt x="0" y="41693"/>
                  </a:lnTo>
                  <a:cubicBezTo>
                    <a:pt x="0" y="18667"/>
                    <a:pt x="18667" y="0"/>
                    <a:pt x="41693" y="0"/>
                  </a:cubicBezTo>
                  <a:close/>
                </a:path>
              </a:pathLst>
            </a:custGeom>
            <a:blipFill>
              <a:blip r:embed="rId6"/>
              <a:stretch>
                <a:fillRect l="0" t="-722" r="0" b="-722"/>
              </a:stretch>
            </a:blipFill>
          </p:spPr>
        </p:sp>
      </p:grpSp>
      <p:grpSp>
        <p:nvGrpSpPr>
          <p:cNvPr name="Group 15" id="15"/>
          <p:cNvGrpSpPr/>
          <p:nvPr/>
        </p:nvGrpSpPr>
        <p:grpSpPr>
          <a:xfrm rot="0">
            <a:off x="1247411" y="7985538"/>
            <a:ext cx="2437000" cy="787252"/>
            <a:chOff x="0" y="0"/>
            <a:chExt cx="641844" cy="207342"/>
          </a:xfrm>
        </p:grpSpPr>
        <p:sp>
          <p:nvSpPr>
            <p:cNvPr name="Freeform 16" id="16"/>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7" id="17"/>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grpSp>
        <p:nvGrpSpPr>
          <p:cNvPr name="Group 18" id="18"/>
          <p:cNvGrpSpPr/>
          <p:nvPr/>
        </p:nvGrpSpPr>
        <p:grpSpPr>
          <a:xfrm rot="-5400000">
            <a:off x="10315569" y="7780164"/>
            <a:ext cx="760864" cy="2195408"/>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5400000">
            <a:off x="12406857" y="7780164"/>
            <a:ext cx="760864" cy="2195408"/>
            <a:chOff x="0" y="0"/>
            <a:chExt cx="238315" cy="687639"/>
          </a:xfrm>
        </p:grpSpPr>
        <p:sp>
          <p:nvSpPr>
            <p:cNvPr name="Freeform 22" id="2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6027175" y="6039227"/>
            <a:ext cx="1232125" cy="123212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28" id="28"/>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9" id="29"/>
          <p:cNvSpPr txBox="true"/>
          <p:nvPr/>
        </p:nvSpPr>
        <p:spPr>
          <a:xfrm rot="0">
            <a:off x="1161686" y="2344316"/>
            <a:ext cx="16097614" cy="2590004"/>
          </a:xfrm>
          <a:prstGeom prst="rect">
            <a:avLst/>
          </a:prstGeom>
        </p:spPr>
        <p:txBody>
          <a:bodyPr anchor="t" rtlCol="false" tIns="0" lIns="0" bIns="0" rIns="0">
            <a:spAutoFit/>
          </a:bodyPr>
          <a:lstStyle/>
          <a:p>
            <a:pPr algn="l" marL="0" indent="0" lvl="0">
              <a:lnSpc>
                <a:spcPts val="9774"/>
              </a:lnSpc>
            </a:pPr>
            <a:r>
              <a:rPr lang="en-US" b="true" sz="11106" spc="-744">
                <a:solidFill>
                  <a:srgbClr val="000000"/>
                </a:solidFill>
                <a:latin typeface="Montserrat Bold"/>
                <a:ea typeface="Montserrat Bold"/>
                <a:cs typeface="Montserrat Bold"/>
                <a:sym typeface="Montserrat Bold"/>
              </a:rPr>
              <a:t>Kenyan Road Safety Context</a:t>
            </a:r>
          </a:p>
        </p:txBody>
      </p:sp>
      <p:sp>
        <p:nvSpPr>
          <p:cNvPr name="TextBox 30" id="30"/>
          <p:cNvSpPr txBox="true"/>
          <p:nvPr/>
        </p:nvSpPr>
        <p:spPr>
          <a:xfrm rot="0">
            <a:off x="1247411" y="5617043"/>
            <a:ext cx="6823854" cy="1807394"/>
          </a:xfrm>
          <a:prstGeom prst="rect">
            <a:avLst/>
          </a:prstGeom>
        </p:spPr>
        <p:txBody>
          <a:bodyPr anchor="t" rtlCol="false" tIns="0" lIns="0" bIns="0" rIns="0">
            <a:spAutoFit/>
          </a:bodyPr>
          <a:lstStyle/>
          <a:p>
            <a:pPr algn="just" marL="0" indent="0" lvl="0">
              <a:lnSpc>
                <a:spcPts val="2900"/>
              </a:lnSpc>
            </a:pPr>
            <a:r>
              <a:rPr lang="en-US" sz="2214" spc="-79">
                <a:solidFill>
                  <a:srgbClr val="000000"/>
                </a:solidFill>
                <a:latin typeface="Montserrat"/>
                <a:ea typeface="Montserrat"/>
                <a:cs typeface="Montserrat"/>
                <a:sym typeface="Montserrat"/>
              </a:rPr>
              <a:t>RoadSafe360 is localized for Kenya, using KES currency. Regions covered: Nairobi, Mombasa, Kisumu, Nakuru, Eldoret &amp; Thika. Offence categories include matatu overloading. Seeded with 10 drivers, 12 offence categories &amp; 20 sample offences.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05801"/>
            <a:ext cx="3710438" cy="408675"/>
          </a:xfrm>
          <a:prstGeom prst="rect">
            <a:avLst/>
          </a:prstGeom>
        </p:spPr>
        <p:txBody>
          <a:bodyPr anchor="t" rtlCol="false" tIns="0" lIns="0" bIns="0" rIns="0">
            <a:spAutoFit/>
          </a:bodyPr>
          <a:lstStyle/>
          <a:p>
            <a:pPr algn="l" marL="0" indent="0" lvl="0">
              <a:lnSpc>
                <a:spcPts val="1638"/>
              </a:lnSpc>
            </a:pPr>
            <a:r>
              <a:rPr lang="en-US" b="true" sz="1672" spc="45">
                <a:solidFill>
                  <a:srgbClr val="000000"/>
                </a:solidFill>
                <a:latin typeface="Montserrat Bold"/>
                <a:ea typeface="Montserrat Bold"/>
                <a:cs typeface="Montserrat Bold"/>
                <a:sym typeface="Montserrat Bold"/>
              </a:rPr>
              <a:t>CONSULTING REPORT</a:t>
            </a:r>
          </a:p>
          <a:p>
            <a:pPr algn="l" marL="0" indent="0" lvl="0">
              <a:lnSpc>
                <a:spcPts val="1638"/>
              </a:lnSpc>
            </a:pPr>
            <a:r>
              <a:rPr lang="en-US" b="true" sz="1672" spc="45">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248813"/>
          </a:xfrm>
          <a:prstGeom prst="rect">
            <a:avLst/>
          </a:prstGeom>
        </p:spPr>
        <p:txBody>
          <a:bodyPr anchor="t" rtlCol="false" tIns="0" lIns="0" bIns="0" rIns="0">
            <a:spAutoFit/>
          </a:bodyPr>
          <a:lstStyle/>
          <a:p>
            <a:pPr algn="ctr" marL="0" indent="0" lvl="0">
              <a:lnSpc>
                <a:spcPts val="2035"/>
              </a:lnSpc>
              <a:spcBef>
                <a:spcPct val="0"/>
              </a:spcBef>
            </a:pPr>
            <a:r>
              <a:rPr lang="en-US" sz="1454" spc="168">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248813"/>
          </a:xfrm>
          <a:prstGeom prst="rect">
            <a:avLst/>
          </a:prstGeom>
        </p:spPr>
        <p:txBody>
          <a:bodyPr anchor="t" rtlCol="false" tIns="0" lIns="0" bIns="0" rIns="0">
            <a:spAutoFit/>
          </a:bodyPr>
          <a:lstStyle/>
          <a:p>
            <a:pPr algn="ctr" marL="0" indent="0" lvl="0">
              <a:lnSpc>
                <a:spcPts val="2035"/>
              </a:lnSpc>
              <a:spcBef>
                <a:spcPct val="0"/>
              </a:spcBef>
            </a:pPr>
            <a:r>
              <a:rPr lang="en-US" sz="1454">
                <a:solidFill>
                  <a:srgbClr val="000000"/>
                </a:solidFill>
                <a:latin typeface="Montserrat"/>
                <a:ea typeface="Montserrat"/>
                <a:cs typeface="Montserrat"/>
                <a:sym typeface="Montserrat"/>
              </a:rPr>
              <a:t>ABOUT</a:t>
            </a:r>
          </a:p>
        </p:txBody>
      </p:sp>
      <p:sp>
        <p:nvSpPr>
          <p:cNvPr name="Freeform 12" id="12"/>
          <p:cNvSpPr/>
          <p:nvPr/>
        </p:nvSpPr>
        <p:spPr>
          <a:xfrm flipH="false" flipV="false" rot="0">
            <a:off x="1940383" y="1074818"/>
            <a:ext cx="6910721" cy="6910721"/>
          </a:xfrm>
          <a:custGeom>
            <a:avLst/>
            <a:gdLst/>
            <a:ahLst/>
            <a:cxnLst/>
            <a:rect r="r" b="b" t="t" l="l"/>
            <a:pathLst>
              <a:path h="6910721" w="6910721">
                <a:moveTo>
                  <a:pt x="0" y="0"/>
                </a:moveTo>
                <a:lnTo>
                  <a:pt x="6910720" y="0"/>
                </a:lnTo>
                <a:lnTo>
                  <a:pt x="6910720"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9144000" y="5578105"/>
            <a:ext cx="7613208" cy="3386493"/>
            <a:chOff x="0" y="0"/>
            <a:chExt cx="1179485" cy="524656"/>
          </a:xfrm>
        </p:grpSpPr>
        <p:sp>
          <p:nvSpPr>
            <p:cNvPr name="Freeform 14" id="14"/>
            <p:cNvSpPr/>
            <p:nvPr/>
          </p:nvSpPr>
          <p:spPr>
            <a:xfrm flipH="false" flipV="false" rot="0">
              <a:off x="0" y="0"/>
              <a:ext cx="1179485" cy="524656"/>
            </a:xfrm>
            <a:custGeom>
              <a:avLst/>
              <a:gdLst/>
              <a:ahLst/>
              <a:cxnLst/>
              <a:rect r="r" b="b" t="t" l="l"/>
              <a:pathLst>
                <a:path h="524656" w="1179485">
                  <a:moveTo>
                    <a:pt x="41693" y="0"/>
                  </a:moveTo>
                  <a:lnTo>
                    <a:pt x="1137792" y="0"/>
                  </a:lnTo>
                  <a:cubicBezTo>
                    <a:pt x="1160818" y="0"/>
                    <a:pt x="1179485" y="18667"/>
                    <a:pt x="1179485" y="41693"/>
                  </a:cubicBezTo>
                  <a:lnTo>
                    <a:pt x="1179485" y="482963"/>
                  </a:lnTo>
                  <a:cubicBezTo>
                    <a:pt x="1179485" y="505990"/>
                    <a:pt x="1160818" y="524656"/>
                    <a:pt x="1137792" y="524656"/>
                  </a:cubicBezTo>
                  <a:lnTo>
                    <a:pt x="41693" y="524656"/>
                  </a:lnTo>
                  <a:cubicBezTo>
                    <a:pt x="18667" y="524656"/>
                    <a:pt x="0" y="505990"/>
                    <a:pt x="0" y="482963"/>
                  </a:cubicBezTo>
                  <a:lnTo>
                    <a:pt x="0" y="41693"/>
                  </a:lnTo>
                  <a:cubicBezTo>
                    <a:pt x="0" y="18667"/>
                    <a:pt x="18667" y="0"/>
                    <a:pt x="41693" y="0"/>
                  </a:cubicBezTo>
                  <a:close/>
                </a:path>
              </a:pathLst>
            </a:custGeom>
            <a:blipFill>
              <a:blip r:embed="rId6"/>
              <a:stretch>
                <a:fillRect l="0" t="-722" r="0" b="-722"/>
              </a:stretch>
            </a:blipFill>
          </p:spPr>
        </p:sp>
      </p:grpSp>
      <p:grpSp>
        <p:nvGrpSpPr>
          <p:cNvPr name="Group 15" id="15"/>
          <p:cNvGrpSpPr/>
          <p:nvPr/>
        </p:nvGrpSpPr>
        <p:grpSpPr>
          <a:xfrm rot="0">
            <a:off x="1247411" y="7985538"/>
            <a:ext cx="2437000" cy="787252"/>
            <a:chOff x="0" y="0"/>
            <a:chExt cx="641844" cy="207342"/>
          </a:xfrm>
        </p:grpSpPr>
        <p:sp>
          <p:nvSpPr>
            <p:cNvPr name="Freeform 16" id="16"/>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7" id="17"/>
            <p:cNvSpPr txBox="true"/>
            <p:nvPr/>
          </p:nvSpPr>
          <p:spPr>
            <a:xfrm>
              <a:off x="0" y="-28575"/>
              <a:ext cx="641844" cy="235917"/>
            </a:xfrm>
            <a:prstGeom prst="rect">
              <a:avLst/>
            </a:prstGeom>
          </p:spPr>
          <p:txBody>
            <a:bodyPr anchor="ctr" rtlCol="false" tIns="50800" lIns="50800" bIns="50800" rIns="50800"/>
            <a:lstStyle/>
            <a:p>
              <a:pPr algn="ctr" marL="0" indent="0" lvl="0">
                <a:lnSpc>
                  <a:spcPts val="2341"/>
                </a:lnSpc>
              </a:pPr>
              <a:r>
                <a:rPr lang="en-US" b="true" sz="1672">
                  <a:solidFill>
                    <a:srgbClr val="000000"/>
                  </a:solidFill>
                  <a:latin typeface="Montserrat Bold"/>
                  <a:ea typeface="Montserrat Bold"/>
                  <a:cs typeface="Montserrat Bold"/>
                  <a:sym typeface="Montserrat Bold"/>
                </a:rPr>
                <a:t>NEXT SLIDE</a:t>
              </a:r>
            </a:p>
          </p:txBody>
        </p:sp>
      </p:grpSp>
      <p:grpSp>
        <p:nvGrpSpPr>
          <p:cNvPr name="Group 18" id="18"/>
          <p:cNvGrpSpPr/>
          <p:nvPr/>
        </p:nvGrpSpPr>
        <p:grpSpPr>
          <a:xfrm rot="-5400000">
            <a:off x="10315569" y="7780164"/>
            <a:ext cx="760864" cy="2195408"/>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5400000">
            <a:off x="12406857" y="7780164"/>
            <a:ext cx="760864" cy="2195408"/>
            <a:chOff x="0" y="0"/>
            <a:chExt cx="238315" cy="687639"/>
          </a:xfrm>
        </p:grpSpPr>
        <p:sp>
          <p:nvSpPr>
            <p:cNvPr name="Freeform 22" id="2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6027175" y="6039227"/>
            <a:ext cx="1232125" cy="123212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7" id="27"/>
          <p:cNvSpPr txBox="true"/>
          <p:nvPr/>
        </p:nvSpPr>
        <p:spPr>
          <a:xfrm rot="0">
            <a:off x="10237201" y="793875"/>
            <a:ext cx="2024119" cy="248813"/>
          </a:xfrm>
          <a:prstGeom prst="rect">
            <a:avLst/>
          </a:prstGeom>
        </p:spPr>
        <p:txBody>
          <a:bodyPr anchor="t" rtlCol="false" tIns="0" lIns="0" bIns="0" rIns="0">
            <a:spAutoFit/>
          </a:bodyPr>
          <a:lstStyle/>
          <a:p>
            <a:pPr algn="ctr" marL="0" indent="0" lvl="0">
              <a:lnSpc>
                <a:spcPts val="2035"/>
              </a:lnSpc>
              <a:spcBef>
                <a:spcPct val="0"/>
              </a:spcBef>
            </a:pPr>
            <a:r>
              <a:rPr lang="en-US" b="true" sz="1454" spc="168">
                <a:solidFill>
                  <a:srgbClr val="000000"/>
                </a:solidFill>
                <a:latin typeface="Montserrat Bold"/>
                <a:ea typeface="Montserrat Bold"/>
                <a:cs typeface="Montserrat Bold"/>
                <a:sym typeface="Montserrat Bold"/>
              </a:rPr>
              <a:t>CONTENT</a:t>
            </a:r>
          </a:p>
        </p:txBody>
      </p:sp>
      <p:sp>
        <p:nvSpPr>
          <p:cNvPr name="TextBox 28" id="28"/>
          <p:cNvSpPr txBox="true"/>
          <p:nvPr/>
        </p:nvSpPr>
        <p:spPr>
          <a:xfrm rot="0">
            <a:off x="12482593" y="793875"/>
            <a:ext cx="2349448" cy="248813"/>
          </a:xfrm>
          <a:prstGeom prst="rect">
            <a:avLst/>
          </a:prstGeom>
        </p:spPr>
        <p:txBody>
          <a:bodyPr anchor="t" rtlCol="false" tIns="0" lIns="0" bIns="0" rIns="0">
            <a:spAutoFit/>
          </a:bodyPr>
          <a:lstStyle/>
          <a:p>
            <a:pPr algn="ctr" marL="0" indent="0" lvl="0">
              <a:lnSpc>
                <a:spcPts val="2035"/>
              </a:lnSpc>
              <a:spcBef>
                <a:spcPct val="0"/>
              </a:spcBef>
            </a:pPr>
            <a:r>
              <a:rPr lang="en-US" sz="1454" spc="168">
                <a:solidFill>
                  <a:srgbClr val="000000"/>
                </a:solidFill>
                <a:latin typeface="Montserrat"/>
                <a:ea typeface="Montserrat"/>
                <a:cs typeface="Montserrat"/>
                <a:sym typeface="Montserrat"/>
              </a:rPr>
              <a:t>OTHERS</a:t>
            </a:r>
          </a:p>
        </p:txBody>
      </p:sp>
      <p:sp>
        <p:nvSpPr>
          <p:cNvPr name="TextBox 29" id="29"/>
          <p:cNvSpPr txBox="true"/>
          <p:nvPr/>
        </p:nvSpPr>
        <p:spPr>
          <a:xfrm rot="0">
            <a:off x="1161686" y="2439566"/>
            <a:ext cx="16097614" cy="1704613"/>
          </a:xfrm>
          <a:prstGeom prst="rect">
            <a:avLst/>
          </a:prstGeom>
        </p:spPr>
        <p:txBody>
          <a:bodyPr anchor="t" rtlCol="false" tIns="0" lIns="0" bIns="0" rIns="0">
            <a:spAutoFit/>
          </a:bodyPr>
          <a:lstStyle/>
          <a:p>
            <a:pPr algn="l" marL="0" indent="0" lvl="0">
              <a:lnSpc>
                <a:spcPts val="12352"/>
              </a:lnSpc>
            </a:pPr>
            <a:r>
              <a:rPr lang="en-US" b="true" sz="14037" spc="-940">
                <a:solidFill>
                  <a:srgbClr val="000000"/>
                </a:solidFill>
                <a:latin typeface="Montserrat Bold"/>
                <a:ea typeface="Montserrat Bold"/>
                <a:cs typeface="Montserrat Bold"/>
                <a:sym typeface="Montserrat Bold"/>
              </a:rPr>
              <a:t>Offences &amp; Appeals</a:t>
            </a:r>
          </a:p>
        </p:txBody>
      </p:sp>
      <p:sp>
        <p:nvSpPr>
          <p:cNvPr name="TextBox 30" id="30"/>
          <p:cNvSpPr txBox="true"/>
          <p:nvPr/>
        </p:nvSpPr>
        <p:spPr>
          <a:xfrm rot="0">
            <a:off x="1247411" y="5636093"/>
            <a:ext cx="6823854" cy="1367287"/>
          </a:xfrm>
          <a:prstGeom prst="rect">
            <a:avLst/>
          </a:prstGeom>
        </p:spPr>
        <p:txBody>
          <a:bodyPr anchor="t" rtlCol="false" tIns="0" lIns="0" bIns="0" rIns="0">
            <a:spAutoFit/>
          </a:bodyPr>
          <a:lstStyle/>
          <a:p>
            <a:pPr algn="just" marL="0" indent="0" lvl="0">
              <a:lnSpc>
                <a:spcPts val="2190"/>
              </a:lnSpc>
            </a:pPr>
            <a:r>
              <a:rPr lang="en-US" sz="1672" spc="-60">
                <a:solidFill>
                  <a:srgbClr val="000000"/>
                </a:solidFill>
                <a:latin typeface="Montserrat"/>
                <a:ea typeface="Montserrat"/>
                <a:cs typeface="Montserrat"/>
                <a:sym typeface="Montserrat"/>
              </a:rPr>
              <a:t>Police issue offences with GPS location &amp; photo evidence, triggering automatic demerit point deductions. Drivers can submit appeals with supporting evidence. Appeal statuses progress: Submitted → Under Review → Approved / Rejected. Approved appeals restore deducted points to the driver's licence record.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sp>
        <p:nvSpPr>
          <p:cNvPr name="Freeform 6" id="6"/>
          <p:cNvSpPr/>
          <p:nvPr/>
        </p:nvSpPr>
        <p:spPr>
          <a:xfrm flipH="false" flipV="false" rot="0">
            <a:off x="3273095" y="989614"/>
            <a:ext cx="7783144" cy="7783144"/>
          </a:xfrm>
          <a:custGeom>
            <a:avLst/>
            <a:gdLst/>
            <a:ahLst/>
            <a:cxnLst/>
            <a:rect r="r" b="b" t="t" l="l"/>
            <a:pathLst>
              <a:path h="7783144" w="7783144">
                <a:moveTo>
                  <a:pt x="0" y="0"/>
                </a:moveTo>
                <a:lnTo>
                  <a:pt x="7783144" y="0"/>
                </a:lnTo>
                <a:lnTo>
                  <a:pt x="7783144" y="7783144"/>
                </a:lnTo>
                <a:lnTo>
                  <a:pt x="0" y="7783144"/>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10" id="10"/>
          <p:cNvGrpSpPr/>
          <p:nvPr/>
        </p:nvGrpSpPr>
        <p:grpSpPr>
          <a:xfrm rot="0">
            <a:off x="1028700" y="4918852"/>
            <a:ext cx="16230600" cy="4216555"/>
            <a:chOff x="0" y="0"/>
            <a:chExt cx="2514545" cy="653255"/>
          </a:xfrm>
        </p:grpSpPr>
        <p:sp>
          <p:nvSpPr>
            <p:cNvPr name="Freeform 11" id="11"/>
            <p:cNvSpPr/>
            <p:nvPr/>
          </p:nvSpPr>
          <p:spPr>
            <a:xfrm flipH="false" flipV="false" rot="0">
              <a:off x="0" y="0"/>
              <a:ext cx="2514545" cy="653255"/>
            </a:xfrm>
            <a:custGeom>
              <a:avLst/>
              <a:gdLst/>
              <a:ahLst/>
              <a:cxnLst/>
              <a:rect r="r" b="b" t="t" l="l"/>
              <a:pathLst>
                <a:path h="653255" w="2514545">
                  <a:moveTo>
                    <a:pt x="19557" y="0"/>
                  </a:moveTo>
                  <a:lnTo>
                    <a:pt x="2494988" y="0"/>
                  </a:lnTo>
                  <a:cubicBezTo>
                    <a:pt x="2500175" y="0"/>
                    <a:pt x="2505149" y="2060"/>
                    <a:pt x="2508816" y="5728"/>
                  </a:cubicBezTo>
                  <a:cubicBezTo>
                    <a:pt x="2512484" y="9396"/>
                    <a:pt x="2514545" y="14370"/>
                    <a:pt x="2514545" y="19557"/>
                  </a:cubicBezTo>
                  <a:lnTo>
                    <a:pt x="2514545" y="633698"/>
                  </a:lnTo>
                  <a:cubicBezTo>
                    <a:pt x="2514545" y="638885"/>
                    <a:pt x="2512484" y="643859"/>
                    <a:pt x="2508816" y="647527"/>
                  </a:cubicBezTo>
                  <a:cubicBezTo>
                    <a:pt x="2505149" y="651194"/>
                    <a:pt x="2500175" y="653255"/>
                    <a:pt x="2494988" y="653255"/>
                  </a:cubicBezTo>
                  <a:lnTo>
                    <a:pt x="19557" y="653255"/>
                  </a:lnTo>
                  <a:cubicBezTo>
                    <a:pt x="14370" y="653255"/>
                    <a:pt x="9396" y="651194"/>
                    <a:pt x="5728" y="647527"/>
                  </a:cubicBezTo>
                  <a:cubicBezTo>
                    <a:pt x="2060" y="643859"/>
                    <a:pt x="0" y="638885"/>
                    <a:pt x="0" y="633698"/>
                  </a:cubicBezTo>
                  <a:lnTo>
                    <a:pt x="0" y="19557"/>
                  </a:lnTo>
                  <a:cubicBezTo>
                    <a:pt x="0" y="14370"/>
                    <a:pt x="2060" y="9396"/>
                    <a:pt x="5728" y="5728"/>
                  </a:cubicBezTo>
                  <a:cubicBezTo>
                    <a:pt x="9396" y="2060"/>
                    <a:pt x="14370" y="0"/>
                    <a:pt x="19557" y="0"/>
                  </a:cubicBezTo>
                  <a:close/>
                </a:path>
              </a:pathLst>
            </a:custGeom>
            <a:blipFill>
              <a:blip r:embed="rId6"/>
              <a:stretch>
                <a:fillRect l="0" t="-521" r="0" b="-521"/>
              </a:stretch>
            </a:blipFill>
          </p:spPr>
        </p:sp>
      </p:grpSp>
      <p:grpSp>
        <p:nvGrpSpPr>
          <p:cNvPr name="Group 12" id="12"/>
          <p:cNvGrpSpPr/>
          <p:nvPr/>
        </p:nvGrpSpPr>
        <p:grpSpPr>
          <a:xfrm rot="-5400000">
            <a:off x="2415785" y="8037703"/>
            <a:ext cx="760864" cy="2195408"/>
            <a:chOff x="0" y="0"/>
            <a:chExt cx="238315" cy="687639"/>
          </a:xfrm>
        </p:grpSpPr>
        <p:sp>
          <p:nvSpPr>
            <p:cNvPr name="Freeform 13" id="13"/>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4" id="14"/>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5" id="15"/>
          <p:cNvGrpSpPr/>
          <p:nvPr/>
        </p:nvGrpSpPr>
        <p:grpSpPr>
          <a:xfrm rot="-5400000">
            <a:off x="4507073" y="8037703"/>
            <a:ext cx="760864" cy="2195408"/>
            <a:chOff x="0" y="0"/>
            <a:chExt cx="238315" cy="687639"/>
          </a:xfrm>
        </p:grpSpPr>
        <p:sp>
          <p:nvSpPr>
            <p:cNvPr name="Freeform 16" id="16"/>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7" id="17"/>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8" id="18"/>
          <p:cNvGrpSpPr/>
          <p:nvPr/>
        </p:nvGrpSpPr>
        <p:grpSpPr>
          <a:xfrm rot="0">
            <a:off x="16491290" y="5442347"/>
            <a:ext cx="1326922" cy="132692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1" id="21"/>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ROADSAFE360</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2" id="22"/>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23" id="23"/>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TextBox 24" id="24"/>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25" id="25"/>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6" id="26"/>
          <p:cNvSpPr txBox="true"/>
          <p:nvPr/>
        </p:nvSpPr>
        <p:spPr>
          <a:xfrm rot="0">
            <a:off x="9247663" y="2160158"/>
            <a:ext cx="7954487" cy="1657685"/>
          </a:xfrm>
          <a:prstGeom prst="rect">
            <a:avLst/>
          </a:prstGeom>
        </p:spPr>
        <p:txBody>
          <a:bodyPr anchor="t" rtlCol="false" tIns="0" lIns="0" bIns="0" rIns="0">
            <a:spAutoFit/>
          </a:bodyPr>
          <a:lstStyle/>
          <a:p>
            <a:pPr algn="just" marL="0" indent="0" lvl="0">
              <a:lnSpc>
                <a:spcPts val="2648"/>
              </a:lnSpc>
            </a:pPr>
            <a:r>
              <a:rPr lang="en-US" sz="2021" spc="-72">
                <a:solidFill>
                  <a:srgbClr val="000000"/>
                </a:solidFill>
                <a:latin typeface="Montserrat"/>
                <a:ea typeface="Montserrat"/>
                <a:cs typeface="Montserrat"/>
                <a:sym typeface="Montserrat"/>
              </a:rPr>
              <a:t>The Digital Licence module generates a secure, verifiable driver licence card featuring a driver photo, licence class, current demerit points, and a unique QR code for instant verification. Drivers can download and print their licence as a PDF. Emergency contact details and blood group are embedded for safety.</a:t>
            </a:r>
          </a:p>
        </p:txBody>
      </p:sp>
      <p:sp>
        <p:nvSpPr>
          <p:cNvPr name="TextBox 27" id="27"/>
          <p:cNvSpPr txBox="true"/>
          <p:nvPr/>
        </p:nvSpPr>
        <p:spPr>
          <a:xfrm rot="0">
            <a:off x="1126643" y="2255408"/>
            <a:ext cx="7822403" cy="1732173"/>
          </a:xfrm>
          <a:prstGeom prst="rect">
            <a:avLst/>
          </a:prstGeom>
        </p:spPr>
        <p:txBody>
          <a:bodyPr anchor="t" rtlCol="false" tIns="0" lIns="0" bIns="0" rIns="0">
            <a:spAutoFit/>
          </a:bodyPr>
          <a:lstStyle/>
          <a:p>
            <a:pPr algn="just" marL="0" indent="0" lvl="0">
              <a:lnSpc>
                <a:spcPts val="6732"/>
              </a:lnSpc>
            </a:pPr>
            <a:r>
              <a:rPr lang="en-US" b="true" sz="6351" spc="-425">
                <a:solidFill>
                  <a:srgbClr val="000000"/>
                </a:solidFill>
                <a:latin typeface="Montserrat Bold"/>
                <a:ea typeface="Montserrat Bold"/>
                <a:cs typeface="Montserrat Bold"/>
                <a:sym typeface="Montserrat Bold"/>
              </a:rPr>
              <a:t>Digital</a:t>
            </a:r>
          </a:p>
          <a:p>
            <a:pPr algn="just" marL="0" indent="0" lvl="0">
              <a:lnSpc>
                <a:spcPts val="6732"/>
              </a:lnSpc>
            </a:pPr>
            <a:r>
              <a:rPr lang="en-US" b="true" sz="6351" spc="-425">
                <a:solidFill>
                  <a:srgbClr val="000000"/>
                </a:solidFill>
                <a:latin typeface="Montserrat Bold"/>
                <a:ea typeface="Montserrat Bold"/>
                <a:cs typeface="Montserrat Bold"/>
                <a:sym typeface="Montserrat Bold"/>
              </a:rPr>
              <a:t>Licence Module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sp>
        <p:nvSpPr>
          <p:cNvPr name="Freeform 6" id="6"/>
          <p:cNvSpPr/>
          <p:nvPr/>
        </p:nvSpPr>
        <p:spPr>
          <a:xfrm flipH="false" flipV="false" rot="0">
            <a:off x="3273095" y="989614"/>
            <a:ext cx="7783144" cy="7783144"/>
          </a:xfrm>
          <a:custGeom>
            <a:avLst/>
            <a:gdLst/>
            <a:ahLst/>
            <a:cxnLst/>
            <a:rect r="r" b="b" t="t" l="l"/>
            <a:pathLst>
              <a:path h="7783144" w="7783144">
                <a:moveTo>
                  <a:pt x="0" y="0"/>
                </a:moveTo>
                <a:lnTo>
                  <a:pt x="7783144" y="0"/>
                </a:lnTo>
                <a:lnTo>
                  <a:pt x="7783144" y="7783144"/>
                </a:lnTo>
                <a:lnTo>
                  <a:pt x="0" y="7783144"/>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10" id="10"/>
          <p:cNvGrpSpPr/>
          <p:nvPr/>
        </p:nvGrpSpPr>
        <p:grpSpPr>
          <a:xfrm rot="0">
            <a:off x="1028700" y="4918852"/>
            <a:ext cx="16230600" cy="4216555"/>
            <a:chOff x="0" y="0"/>
            <a:chExt cx="2514545" cy="653255"/>
          </a:xfrm>
        </p:grpSpPr>
        <p:sp>
          <p:nvSpPr>
            <p:cNvPr name="Freeform 11" id="11"/>
            <p:cNvSpPr/>
            <p:nvPr/>
          </p:nvSpPr>
          <p:spPr>
            <a:xfrm flipH="false" flipV="false" rot="0">
              <a:off x="0" y="0"/>
              <a:ext cx="2514545" cy="653255"/>
            </a:xfrm>
            <a:custGeom>
              <a:avLst/>
              <a:gdLst/>
              <a:ahLst/>
              <a:cxnLst/>
              <a:rect r="r" b="b" t="t" l="l"/>
              <a:pathLst>
                <a:path h="653255" w="2514545">
                  <a:moveTo>
                    <a:pt x="19557" y="0"/>
                  </a:moveTo>
                  <a:lnTo>
                    <a:pt x="2494988" y="0"/>
                  </a:lnTo>
                  <a:cubicBezTo>
                    <a:pt x="2500175" y="0"/>
                    <a:pt x="2505149" y="2060"/>
                    <a:pt x="2508816" y="5728"/>
                  </a:cubicBezTo>
                  <a:cubicBezTo>
                    <a:pt x="2512484" y="9396"/>
                    <a:pt x="2514545" y="14370"/>
                    <a:pt x="2514545" y="19557"/>
                  </a:cubicBezTo>
                  <a:lnTo>
                    <a:pt x="2514545" y="633698"/>
                  </a:lnTo>
                  <a:cubicBezTo>
                    <a:pt x="2514545" y="638885"/>
                    <a:pt x="2512484" y="643859"/>
                    <a:pt x="2508816" y="647527"/>
                  </a:cubicBezTo>
                  <a:cubicBezTo>
                    <a:pt x="2505149" y="651194"/>
                    <a:pt x="2500175" y="653255"/>
                    <a:pt x="2494988" y="653255"/>
                  </a:cubicBezTo>
                  <a:lnTo>
                    <a:pt x="19557" y="653255"/>
                  </a:lnTo>
                  <a:cubicBezTo>
                    <a:pt x="14370" y="653255"/>
                    <a:pt x="9396" y="651194"/>
                    <a:pt x="5728" y="647527"/>
                  </a:cubicBezTo>
                  <a:cubicBezTo>
                    <a:pt x="2060" y="643859"/>
                    <a:pt x="0" y="638885"/>
                    <a:pt x="0" y="633698"/>
                  </a:cubicBezTo>
                  <a:lnTo>
                    <a:pt x="0" y="19557"/>
                  </a:lnTo>
                  <a:cubicBezTo>
                    <a:pt x="0" y="14370"/>
                    <a:pt x="2060" y="9396"/>
                    <a:pt x="5728" y="5728"/>
                  </a:cubicBezTo>
                  <a:cubicBezTo>
                    <a:pt x="9396" y="2060"/>
                    <a:pt x="14370" y="0"/>
                    <a:pt x="19557" y="0"/>
                  </a:cubicBezTo>
                  <a:close/>
                </a:path>
              </a:pathLst>
            </a:custGeom>
            <a:blipFill>
              <a:blip r:embed="rId6"/>
              <a:stretch>
                <a:fillRect l="0" t="-521" r="0" b="-521"/>
              </a:stretch>
            </a:blipFill>
          </p:spPr>
        </p:sp>
      </p:grpSp>
      <p:grpSp>
        <p:nvGrpSpPr>
          <p:cNvPr name="Group 12" id="12"/>
          <p:cNvGrpSpPr/>
          <p:nvPr/>
        </p:nvGrpSpPr>
        <p:grpSpPr>
          <a:xfrm rot="-5400000">
            <a:off x="2415785" y="8037703"/>
            <a:ext cx="760864" cy="2195408"/>
            <a:chOff x="0" y="0"/>
            <a:chExt cx="238315" cy="687639"/>
          </a:xfrm>
        </p:grpSpPr>
        <p:sp>
          <p:nvSpPr>
            <p:cNvPr name="Freeform 13" id="13"/>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4" id="14"/>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5" id="15"/>
          <p:cNvGrpSpPr/>
          <p:nvPr/>
        </p:nvGrpSpPr>
        <p:grpSpPr>
          <a:xfrm rot="-5400000">
            <a:off x="4507073" y="8037703"/>
            <a:ext cx="760864" cy="2195408"/>
            <a:chOff x="0" y="0"/>
            <a:chExt cx="238315" cy="687639"/>
          </a:xfrm>
        </p:grpSpPr>
        <p:sp>
          <p:nvSpPr>
            <p:cNvPr name="Freeform 16" id="16"/>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7" id="17"/>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8" id="18"/>
          <p:cNvGrpSpPr/>
          <p:nvPr/>
        </p:nvGrpSpPr>
        <p:grpSpPr>
          <a:xfrm rot="0">
            <a:off x="16491290" y="5442347"/>
            <a:ext cx="1326922" cy="132692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1" id="21"/>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ROADSAFE360</a:t>
            </a:r>
          </a:p>
          <a:p>
            <a:pPr algn="l" marL="0" indent="0" lvl="0">
              <a:lnSpc>
                <a:spcPts val="2252"/>
              </a:lnSpc>
            </a:pPr>
            <a:r>
              <a:rPr lang="en-US" b="true" sz="2298" spc="62">
                <a:solidFill>
                  <a:srgbClr val="000000"/>
                </a:solidFill>
                <a:latin typeface="Montserrat Bold"/>
                <a:ea typeface="Montserrat Bold"/>
                <a:cs typeface="Montserrat Bold"/>
                <a:sym typeface="Montserrat Bold"/>
              </a:rPr>
              <a:t>PBL PROJECT</a:t>
            </a:r>
          </a:p>
        </p:txBody>
      </p:sp>
      <p:sp>
        <p:nvSpPr>
          <p:cNvPr name="TextBox 22" id="22"/>
          <p:cNvSpPr txBox="true"/>
          <p:nvPr/>
        </p:nvSpPr>
        <p:spPr>
          <a:xfrm rot="0">
            <a:off x="5718971" y="784350"/>
            <a:ext cx="1755559" cy="323636"/>
          </a:xfrm>
          <a:prstGeom prst="rect">
            <a:avLst/>
          </a:prstGeom>
        </p:spPr>
        <p:txBody>
          <a:bodyPr anchor="t" rtlCol="false" tIns="0" lIns="0" bIns="0" rIns="0">
            <a:spAutoFit/>
          </a:bodyPr>
          <a:lstStyle/>
          <a:p>
            <a:pPr algn="ctr" marL="0" indent="0" lvl="0">
              <a:lnSpc>
                <a:spcPts val="2636"/>
              </a:lnSpc>
              <a:spcBef>
                <a:spcPct val="0"/>
              </a:spcBef>
            </a:pPr>
            <a:r>
              <a:rPr lang="en-US" sz="1883" spc="218">
                <a:solidFill>
                  <a:srgbClr val="000000"/>
                </a:solidFill>
                <a:latin typeface="Montserrat"/>
                <a:ea typeface="Montserrat"/>
                <a:cs typeface="Montserrat"/>
                <a:sym typeface="Montserrat"/>
              </a:rPr>
              <a:t>HOME</a:t>
            </a:r>
          </a:p>
        </p:txBody>
      </p:sp>
      <p:sp>
        <p:nvSpPr>
          <p:cNvPr name="TextBox 23" id="23"/>
          <p:cNvSpPr txBox="true"/>
          <p:nvPr/>
        </p:nvSpPr>
        <p:spPr>
          <a:xfrm rot="0">
            <a:off x="7844217" y="784350"/>
            <a:ext cx="2013772" cy="323636"/>
          </a:xfrm>
          <a:prstGeom prst="rect">
            <a:avLst/>
          </a:prstGeom>
        </p:spPr>
        <p:txBody>
          <a:bodyPr anchor="t" rtlCol="false" tIns="0" lIns="0" bIns="0" rIns="0">
            <a:spAutoFit/>
          </a:bodyPr>
          <a:lstStyle/>
          <a:p>
            <a:pPr algn="ctr" marL="0" indent="0" lvl="0">
              <a:lnSpc>
                <a:spcPts val="2636"/>
              </a:lnSpc>
              <a:spcBef>
                <a:spcPct val="0"/>
              </a:spcBef>
            </a:pPr>
            <a:r>
              <a:rPr lang="en-US" sz="1883">
                <a:solidFill>
                  <a:srgbClr val="000000"/>
                </a:solidFill>
                <a:latin typeface="Montserrat"/>
                <a:ea typeface="Montserrat"/>
                <a:cs typeface="Montserrat"/>
                <a:sym typeface="Montserrat"/>
              </a:rPr>
              <a:t>ABOUT</a:t>
            </a:r>
          </a:p>
        </p:txBody>
      </p:sp>
      <p:sp>
        <p:nvSpPr>
          <p:cNvPr name="TextBox 24" id="24"/>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25" id="25"/>
          <p:cNvSpPr txBox="true"/>
          <p:nvPr/>
        </p:nvSpPr>
        <p:spPr>
          <a:xfrm rot="0">
            <a:off x="12482593" y="784350"/>
            <a:ext cx="2349448" cy="323636"/>
          </a:xfrm>
          <a:prstGeom prst="rect">
            <a:avLst/>
          </a:prstGeom>
        </p:spPr>
        <p:txBody>
          <a:bodyPr anchor="t" rtlCol="false" tIns="0" lIns="0" bIns="0" rIns="0">
            <a:spAutoFit/>
          </a:bodyPr>
          <a:lstStyle/>
          <a:p>
            <a:pPr algn="ctr" marL="0" indent="0" lvl="0">
              <a:lnSpc>
                <a:spcPts val="2636"/>
              </a:lnSpc>
              <a:spcBef>
                <a:spcPct val="0"/>
              </a:spcBef>
            </a:pPr>
            <a:r>
              <a:rPr lang="en-US" sz="1883" spc="218">
                <a:solidFill>
                  <a:srgbClr val="000000"/>
                </a:solidFill>
                <a:latin typeface="Montserrat"/>
                <a:ea typeface="Montserrat"/>
                <a:cs typeface="Montserrat"/>
                <a:sym typeface="Montserrat"/>
              </a:rPr>
              <a:t>OTHERS</a:t>
            </a:r>
          </a:p>
        </p:txBody>
      </p:sp>
      <p:sp>
        <p:nvSpPr>
          <p:cNvPr name="TextBox 26" id="26"/>
          <p:cNvSpPr txBox="true"/>
          <p:nvPr/>
        </p:nvSpPr>
        <p:spPr>
          <a:xfrm rot="0">
            <a:off x="9247663" y="2150633"/>
            <a:ext cx="7954487" cy="1760442"/>
          </a:xfrm>
          <a:prstGeom prst="rect">
            <a:avLst/>
          </a:prstGeom>
        </p:spPr>
        <p:txBody>
          <a:bodyPr anchor="t" rtlCol="false" tIns="0" lIns="0" bIns="0" rIns="0">
            <a:spAutoFit/>
          </a:bodyPr>
          <a:lstStyle/>
          <a:p>
            <a:pPr algn="just" marL="0" indent="0" lvl="0">
              <a:lnSpc>
                <a:spcPts val="2837"/>
              </a:lnSpc>
            </a:pPr>
            <a:r>
              <a:rPr lang="en-US" sz="2165" spc="-77">
                <a:solidFill>
                  <a:srgbClr val="000000"/>
                </a:solidFill>
                <a:latin typeface="Montserrat"/>
                <a:ea typeface="Montserrat"/>
                <a:cs typeface="Montserrat"/>
                <a:sym typeface="Montserrat"/>
              </a:rPr>
              <a:t>Powered by Leaflet + OpenStreetMap, RoadSafe360 enables precise GPS-based offence location picking. Officers can click any point on the map or use device geolocation to auto-fill coordinates. Each offence is pinned to a real location, enabling regional analysis and visual crime mapping across Kenya.</a:t>
            </a:r>
          </a:p>
        </p:txBody>
      </p:sp>
      <p:sp>
        <p:nvSpPr>
          <p:cNvPr name="TextBox 27" id="27"/>
          <p:cNvSpPr txBox="true"/>
          <p:nvPr/>
        </p:nvSpPr>
        <p:spPr>
          <a:xfrm rot="0">
            <a:off x="1126643" y="2255408"/>
            <a:ext cx="7822403" cy="1732173"/>
          </a:xfrm>
          <a:prstGeom prst="rect">
            <a:avLst/>
          </a:prstGeom>
        </p:spPr>
        <p:txBody>
          <a:bodyPr anchor="t" rtlCol="false" tIns="0" lIns="0" bIns="0" rIns="0">
            <a:spAutoFit/>
          </a:bodyPr>
          <a:lstStyle/>
          <a:p>
            <a:pPr algn="just" marL="0" indent="0" lvl="0">
              <a:lnSpc>
                <a:spcPts val="6732"/>
              </a:lnSpc>
            </a:pPr>
            <a:r>
              <a:rPr lang="en-US" b="true" sz="6351" spc="-425">
                <a:solidFill>
                  <a:srgbClr val="000000"/>
                </a:solidFill>
                <a:latin typeface="Montserrat Bold"/>
                <a:ea typeface="Montserrat Bold"/>
                <a:cs typeface="Montserrat Bold"/>
                <a:sym typeface="Montserrat Bold"/>
              </a:rPr>
              <a:t>Interactive</a:t>
            </a:r>
          </a:p>
          <a:p>
            <a:pPr algn="just" marL="0" indent="0" lvl="0">
              <a:lnSpc>
                <a:spcPts val="6732"/>
              </a:lnSpc>
            </a:pPr>
            <a:r>
              <a:rPr lang="en-US" b="true" sz="6351" spc="-425">
                <a:solidFill>
                  <a:srgbClr val="000000"/>
                </a:solidFill>
                <a:latin typeface="Montserrat Bold"/>
                <a:ea typeface="Montserrat Bold"/>
                <a:cs typeface="Montserrat Bold"/>
                <a:sym typeface="Montserrat Bold"/>
              </a:rPr>
              <a:t>Maps &amp; Location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ROADSAFE360</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Freeform 12" id="12"/>
          <p:cNvSpPr/>
          <p:nvPr/>
        </p:nvSpPr>
        <p:spPr>
          <a:xfrm flipH="false" flipV="false" rot="0">
            <a:off x="1940383" y="1074818"/>
            <a:ext cx="6910721" cy="6910721"/>
          </a:xfrm>
          <a:custGeom>
            <a:avLst/>
            <a:gdLst/>
            <a:ahLst/>
            <a:cxnLst/>
            <a:rect r="r" b="b" t="t" l="l"/>
            <a:pathLst>
              <a:path h="6910721" w="6910721">
                <a:moveTo>
                  <a:pt x="0" y="0"/>
                </a:moveTo>
                <a:lnTo>
                  <a:pt x="6910720" y="0"/>
                </a:lnTo>
                <a:lnTo>
                  <a:pt x="6910720"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9144000" y="5578105"/>
            <a:ext cx="7613208" cy="3386493"/>
            <a:chOff x="0" y="0"/>
            <a:chExt cx="1179485" cy="524656"/>
          </a:xfrm>
        </p:grpSpPr>
        <p:sp>
          <p:nvSpPr>
            <p:cNvPr name="Freeform 14" id="14"/>
            <p:cNvSpPr/>
            <p:nvPr/>
          </p:nvSpPr>
          <p:spPr>
            <a:xfrm flipH="false" flipV="false" rot="0">
              <a:off x="0" y="0"/>
              <a:ext cx="1179485" cy="524656"/>
            </a:xfrm>
            <a:custGeom>
              <a:avLst/>
              <a:gdLst/>
              <a:ahLst/>
              <a:cxnLst/>
              <a:rect r="r" b="b" t="t" l="l"/>
              <a:pathLst>
                <a:path h="524656" w="1179485">
                  <a:moveTo>
                    <a:pt x="41693" y="0"/>
                  </a:moveTo>
                  <a:lnTo>
                    <a:pt x="1137792" y="0"/>
                  </a:lnTo>
                  <a:cubicBezTo>
                    <a:pt x="1160818" y="0"/>
                    <a:pt x="1179485" y="18667"/>
                    <a:pt x="1179485" y="41693"/>
                  </a:cubicBezTo>
                  <a:lnTo>
                    <a:pt x="1179485" y="482963"/>
                  </a:lnTo>
                  <a:cubicBezTo>
                    <a:pt x="1179485" y="505990"/>
                    <a:pt x="1160818" y="524656"/>
                    <a:pt x="1137792" y="524656"/>
                  </a:cubicBezTo>
                  <a:lnTo>
                    <a:pt x="41693" y="524656"/>
                  </a:lnTo>
                  <a:cubicBezTo>
                    <a:pt x="18667" y="524656"/>
                    <a:pt x="0" y="505990"/>
                    <a:pt x="0" y="482963"/>
                  </a:cubicBezTo>
                  <a:lnTo>
                    <a:pt x="0" y="41693"/>
                  </a:lnTo>
                  <a:cubicBezTo>
                    <a:pt x="0" y="18667"/>
                    <a:pt x="18667" y="0"/>
                    <a:pt x="41693" y="0"/>
                  </a:cubicBezTo>
                  <a:close/>
                </a:path>
              </a:pathLst>
            </a:custGeom>
            <a:blipFill>
              <a:blip r:embed="rId6"/>
              <a:stretch>
                <a:fillRect l="0" t="-722" r="0" b="-722"/>
              </a:stretch>
            </a:blipFill>
          </p:spPr>
        </p:sp>
      </p:grpSp>
      <p:grpSp>
        <p:nvGrpSpPr>
          <p:cNvPr name="Group 15" id="15"/>
          <p:cNvGrpSpPr/>
          <p:nvPr/>
        </p:nvGrpSpPr>
        <p:grpSpPr>
          <a:xfrm rot="0">
            <a:off x="1247411" y="7985538"/>
            <a:ext cx="2437000" cy="787252"/>
            <a:chOff x="0" y="0"/>
            <a:chExt cx="641844" cy="207342"/>
          </a:xfrm>
        </p:grpSpPr>
        <p:sp>
          <p:nvSpPr>
            <p:cNvPr name="Freeform 16" id="16"/>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7" id="17"/>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grpSp>
        <p:nvGrpSpPr>
          <p:cNvPr name="Group 18" id="18"/>
          <p:cNvGrpSpPr/>
          <p:nvPr/>
        </p:nvGrpSpPr>
        <p:grpSpPr>
          <a:xfrm rot="-5400000">
            <a:off x="10315569" y="7780164"/>
            <a:ext cx="760864" cy="2195408"/>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5400000">
            <a:off x="12406857" y="7780164"/>
            <a:ext cx="760864" cy="2195408"/>
            <a:chOff x="0" y="0"/>
            <a:chExt cx="238315" cy="687639"/>
          </a:xfrm>
        </p:grpSpPr>
        <p:sp>
          <p:nvSpPr>
            <p:cNvPr name="Freeform 22" id="2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6027175" y="6039227"/>
            <a:ext cx="1232125" cy="123212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28" id="28"/>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9" id="29"/>
          <p:cNvSpPr txBox="true"/>
          <p:nvPr/>
        </p:nvSpPr>
        <p:spPr>
          <a:xfrm rot="0">
            <a:off x="1161686" y="2439566"/>
            <a:ext cx="16097614" cy="1704613"/>
          </a:xfrm>
          <a:prstGeom prst="rect">
            <a:avLst/>
          </a:prstGeom>
        </p:spPr>
        <p:txBody>
          <a:bodyPr anchor="t" rtlCol="false" tIns="0" lIns="0" bIns="0" rIns="0">
            <a:spAutoFit/>
          </a:bodyPr>
          <a:lstStyle/>
          <a:p>
            <a:pPr algn="l" marL="0" indent="0" lvl="0">
              <a:lnSpc>
                <a:spcPts val="12352"/>
              </a:lnSpc>
            </a:pPr>
            <a:r>
              <a:rPr lang="en-US" b="true" sz="14037" spc="-940">
                <a:solidFill>
                  <a:srgbClr val="000000"/>
                </a:solidFill>
                <a:latin typeface="Montserrat Bold"/>
                <a:ea typeface="Montserrat Bold"/>
                <a:cs typeface="Montserrat Bold"/>
                <a:sym typeface="Montserrat Bold"/>
              </a:rPr>
              <a:t>Analytics &amp; Reports</a:t>
            </a:r>
          </a:p>
        </p:txBody>
      </p:sp>
      <p:sp>
        <p:nvSpPr>
          <p:cNvPr name="TextBox 30" id="30"/>
          <p:cNvSpPr txBox="true"/>
          <p:nvPr/>
        </p:nvSpPr>
        <p:spPr>
          <a:xfrm rot="0">
            <a:off x="1247411" y="5617043"/>
            <a:ext cx="6823854" cy="1901467"/>
          </a:xfrm>
          <a:prstGeom prst="rect">
            <a:avLst/>
          </a:prstGeom>
        </p:spPr>
        <p:txBody>
          <a:bodyPr anchor="t" rtlCol="false" tIns="0" lIns="0" bIns="0" rIns="0">
            <a:spAutoFit/>
          </a:bodyPr>
          <a:lstStyle/>
          <a:p>
            <a:pPr algn="just" marL="0" indent="0" lvl="0">
              <a:lnSpc>
                <a:spcPts val="3010"/>
              </a:lnSpc>
            </a:pPr>
            <a:r>
              <a:rPr lang="en-US" sz="2298" spc="-82">
                <a:solidFill>
                  <a:srgbClr val="000000"/>
                </a:solidFill>
                <a:latin typeface="Montserrat"/>
                <a:ea typeface="Montserrat"/>
                <a:cs typeface="Montserrat"/>
                <a:sym typeface="Montserrat"/>
              </a:rPr>
              <a:t>Visualize monthly offence trends with bar, line, and area charts. Track revenue, licence status distribution, and driver risk scores. Export full reports as PDF, Excel, or CSV for deeper analysis and record-keeping.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sp>
        <p:nvSpPr>
          <p:cNvPr name="Freeform 6" id="6"/>
          <p:cNvSpPr/>
          <p:nvPr/>
        </p:nvSpPr>
        <p:spPr>
          <a:xfrm flipH="false" flipV="false" rot="0">
            <a:off x="1104022" y="1222063"/>
            <a:ext cx="6910721" cy="6910721"/>
          </a:xfrm>
          <a:custGeom>
            <a:avLst/>
            <a:gdLst/>
            <a:ahLst/>
            <a:cxnLst/>
            <a:rect r="r" b="b" t="t" l="l"/>
            <a:pathLst>
              <a:path h="6910721" w="6910721">
                <a:moveTo>
                  <a:pt x="0" y="0"/>
                </a:moveTo>
                <a:lnTo>
                  <a:pt x="6910721" y="0"/>
                </a:lnTo>
                <a:lnTo>
                  <a:pt x="6910721"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10" id="10"/>
          <p:cNvGrpSpPr/>
          <p:nvPr/>
        </p:nvGrpSpPr>
        <p:grpSpPr>
          <a:xfrm rot="0">
            <a:off x="9502797" y="4810936"/>
            <a:ext cx="4810212" cy="4216555"/>
            <a:chOff x="0" y="0"/>
            <a:chExt cx="745228" cy="653255"/>
          </a:xfrm>
        </p:grpSpPr>
        <p:sp>
          <p:nvSpPr>
            <p:cNvPr name="Freeform 11" id="11"/>
            <p:cNvSpPr/>
            <p:nvPr/>
          </p:nvSpPr>
          <p:spPr>
            <a:xfrm flipH="false" flipV="false" rot="0">
              <a:off x="0" y="0"/>
              <a:ext cx="745228" cy="653255"/>
            </a:xfrm>
            <a:custGeom>
              <a:avLst/>
              <a:gdLst/>
              <a:ahLst/>
              <a:cxnLst/>
              <a:rect r="r" b="b" t="t" l="l"/>
              <a:pathLst>
                <a:path h="653255" w="745228">
                  <a:moveTo>
                    <a:pt x="65989" y="0"/>
                  </a:moveTo>
                  <a:lnTo>
                    <a:pt x="679239" y="0"/>
                  </a:lnTo>
                  <a:cubicBezTo>
                    <a:pt x="715684" y="0"/>
                    <a:pt x="745228" y="29544"/>
                    <a:pt x="745228" y="65989"/>
                  </a:cubicBezTo>
                  <a:lnTo>
                    <a:pt x="745228" y="587266"/>
                  </a:lnTo>
                  <a:cubicBezTo>
                    <a:pt x="745228" y="604767"/>
                    <a:pt x="738275" y="621552"/>
                    <a:pt x="725900" y="633927"/>
                  </a:cubicBezTo>
                  <a:cubicBezTo>
                    <a:pt x="713525" y="646302"/>
                    <a:pt x="696740" y="653255"/>
                    <a:pt x="679239" y="653255"/>
                  </a:cubicBezTo>
                  <a:lnTo>
                    <a:pt x="65989" y="653255"/>
                  </a:lnTo>
                  <a:cubicBezTo>
                    <a:pt x="29544" y="653255"/>
                    <a:pt x="0" y="623711"/>
                    <a:pt x="0" y="587266"/>
                  </a:cubicBezTo>
                  <a:lnTo>
                    <a:pt x="0" y="65989"/>
                  </a:lnTo>
                  <a:cubicBezTo>
                    <a:pt x="0" y="29544"/>
                    <a:pt x="29544" y="0"/>
                    <a:pt x="65989" y="0"/>
                  </a:cubicBezTo>
                  <a:close/>
                </a:path>
              </a:pathLst>
            </a:custGeom>
            <a:blipFill>
              <a:blip r:embed="rId6"/>
              <a:stretch>
                <a:fillRect l="-19" t="0" r="-19" b="0"/>
              </a:stretch>
            </a:blipFill>
          </p:spPr>
        </p:sp>
      </p:grpSp>
      <p:sp>
        <p:nvSpPr>
          <p:cNvPr name="TextBox 12" id="12"/>
          <p:cNvSpPr txBox="true"/>
          <p:nvPr/>
        </p:nvSpPr>
        <p:spPr>
          <a:xfrm rot="0">
            <a:off x="1028700" y="2330295"/>
            <a:ext cx="12413959" cy="3340926"/>
          </a:xfrm>
          <a:prstGeom prst="rect">
            <a:avLst/>
          </a:prstGeom>
        </p:spPr>
        <p:txBody>
          <a:bodyPr anchor="t" rtlCol="false" tIns="0" lIns="0" bIns="0" rIns="0">
            <a:spAutoFit/>
          </a:bodyPr>
          <a:lstStyle/>
          <a:p>
            <a:pPr algn="l" marL="0" indent="0" lvl="0">
              <a:lnSpc>
                <a:spcPts val="12920"/>
              </a:lnSpc>
            </a:pPr>
            <a:r>
              <a:rPr lang="en-US" b="true" sz="12189" spc="-816">
                <a:solidFill>
                  <a:srgbClr val="000000"/>
                </a:solidFill>
                <a:latin typeface="Montserrat Bold"/>
                <a:ea typeface="Montserrat Bold"/>
                <a:cs typeface="Montserrat Bold"/>
                <a:sym typeface="Montserrat Bold"/>
              </a:rPr>
              <a:t>Mobile App &amp;</a:t>
            </a:r>
          </a:p>
          <a:p>
            <a:pPr algn="l" marL="0" indent="0" lvl="0">
              <a:lnSpc>
                <a:spcPts val="12920"/>
              </a:lnSpc>
            </a:pPr>
            <a:r>
              <a:rPr lang="en-US" b="true" sz="12189" spc="-816">
                <a:solidFill>
                  <a:srgbClr val="000000"/>
                </a:solidFill>
                <a:latin typeface="Montserrat Bold"/>
                <a:ea typeface="Montserrat Bold"/>
                <a:cs typeface="Montserrat Bold"/>
                <a:sym typeface="Montserrat Bold"/>
              </a:rPr>
              <a:t>Website Versions</a:t>
            </a:r>
          </a:p>
        </p:txBody>
      </p:sp>
      <p:grpSp>
        <p:nvGrpSpPr>
          <p:cNvPr name="Group 13" id="13"/>
          <p:cNvGrpSpPr/>
          <p:nvPr/>
        </p:nvGrpSpPr>
        <p:grpSpPr>
          <a:xfrm rot="0">
            <a:off x="1104022" y="8240239"/>
            <a:ext cx="2437000" cy="787252"/>
            <a:chOff x="0" y="0"/>
            <a:chExt cx="641844" cy="207342"/>
          </a:xfrm>
        </p:grpSpPr>
        <p:sp>
          <p:nvSpPr>
            <p:cNvPr name="Freeform 14" id="14"/>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5" id="15"/>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grpSp>
        <p:nvGrpSpPr>
          <p:cNvPr name="Group 16" id="16"/>
          <p:cNvGrpSpPr/>
          <p:nvPr/>
        </p:nvGrpSpPr>
        <p:grpSpPr>
          <a:xfrm rot="-5400000">
            <a:off x="13644250" y="2146490"/>
            <a:ext cx="736403" cy="2543340"/>
            <a:chOff x="0" y="0"/>
            <a:chExt cx="238315" cy="823078"/>
          </a:xfrm>
        </p:grpSpPr>
        <p:sp>
          <p:nvSpPr>
            <p:cNvPr name="Freeform 17" id="17"/>
            <p:cNvSpPr/>
            <p:nvPr/>
          </p:nvSpPr>
          <p:spPr>
            <a:xfrm flipH="false" flipV="false" rot="0">
              <a:off x="0" y="0"/>
              <a:ext cx="238315" cy="823078"/>
            </a:xfrm>
            <a:custGeom>
              <a:avLst/>
              <a:gdLst/>
              <a:ahLst/>
              <a:cxnLst/>
              <a:rect r="r" b="b" t="t" l="l"/>
              <a:pathLst>
                <a:path h="823078" w="238315">
                  <a:moveTo>
                    <a:pt x="119158" y="0"/>
                  </a:moveTo>
                  <a:lnTo>
                    <a:pt x="119158" y="0"/>
                  </a:lnTo>
                  <a:cubicBezTo>
                    <a:pt x="184967" y="0"/>
                    <a:pt x="238315" y="53349"/>
                    <a:pt x="238315" y="119158"/>
                  </a:cubicBezTo>
                  <a:lnTo>
                    <a:pt x="238315" y="703921"/>
                  </a:lnTo>
                  <a:cubicBezTo>
                    <a:pt x="238315" y="769730"/>
                    <a:pt x="184967" y="823078"/>
                    <a:pt x="119158" y="823078"/>
                  </a:cubicBezTo>
                  <a:lnTo>
                    <a:pt x="119158" y="823078"/>
                  </a:lnTo>
                  <a:cubicBezTo>
                    <a:pt x="53349" y="823078"/>
                    <a:pt x="0" y="769730"/>
                    <a:pt x="0" y="703921"/>
                  </a:cubicBezTo>
                  <a:lnTo>
                    <a:pt x="0" y="119158"/>
                  </a:lnTo>
                  <a:cubicBezTo>
                    <a:pt x="0" y="53349"/>
                    <a:pt x="53349" y="0"/>
                    <a:pt x="119158" y="0"/>
                  </a:cubicBezTo>
                  <a:close/>
                </a:path>
              </a:pathLst>
            </a:custGeom>
            <a:solidFill>
              <a:srgbClr val="B4E100"/>
            </a:solidFill>
            <a:ln cap="rnd">
              <a:noFill/>
              <a:prstDash val="solid"/>
              <a:round/>
            </a:ln>
          </p:spPr>
        </p:sp>
        <p:sp>
          <p:nvSpPr>
            <p:cNvPr name="TextBox 18" id="18"/>
            <p:cNvSpPr txBox="true"/>
            <p:nvPr/>
          </p:nvSpPr>
          <p:spPr>
            <a:xfrm>
              <a:off x="0" y="-38100"/>
              <a:ext cx="238315" cy="861178"/>
            </a:xfrm>
            <a:prstGeom prst="rect">
              <a:avLst/>
            </a:prstGeom>
          </p:spPr>
          <p:txBody>
            <a:bodyPr anchor="ctr" rtlCol="false" tIns="50800" lIns="50800" bIns="50800" rIns="50800"/>
            <a:lstStyle/>
            <a:p>
              <a:pPr algn="ctr" marL="0" indent="0" lvl="0">
                <a:lnSpc>
                  <a:spcPts val="2800"/>
                </a:lnSpc>
              </a:pPr>
            </a:p>
          </p:txBody>
        </p:sp>
      </p:grpSp>
      <p:grpSp>
        <p:nvGrpSpPr>
          <p:cNvPr name="Group 19" id="19"/>
          <p:cNvGrpSpPr/>
          <p:nvPr/>
        </p:nvGrpSpPr>
        <p:grpSpPr>
          <a:xfrm rot="-5400000">
            <a:off x="16127280" y="2206801"/>
            <a:ext cx="736403" cy="2422719"/>
            <a:chOff x="0" y="0"/>
            <a:chExt cx="238315" cy="784043"/>
          </a:xfrm>
        </p:grpSpPr>
        <p:sp>
          <p:nvSpPr>
            <p:cNvPr name="Freeform 20" id="20"/>
            <p:cNvSpPr/>
            <p:nvPr/>
          </p:nvSpPr>
          <p:spPr>
            <a:xfrm flipH="false" flipV="false" rot="0">
              <a:off x="0" y="0"/>
              <a:ext cx="238315" cy="784043"/>
            </a:xfrm>
            <a:custGeom>
              <a:avLst/>
              <a:gdLst/>
              <a:ahLst/>
              <a:cxnLst/>
              <a:rect r="r" b="b" t="t" l="l"/>
              <a:pathLst>
                <a:path h="784043" w="238315">
                  <a:moveTo>
                    <a:pt x="119158" y="0"/>
                  </a:moveTo>
                  <a:lnTo>
                    <a:pt x="119158" y="0"/>
                  </a:lnTo>
                  <a:cubicBezTo>
                    <a:pt x="184967" y="0"/>
                    <a:pt x="238315" y="53349"/>
                    <a:pt x="238315" y="119158"/>
                  </a:cubicBezTo>
                  <a:lnTo>
                    <a:pt x="238315" y="664885"/>
                  </a:lnTo>
                  <a:cubicBezTo>
                    <a:pt x="238315" y="730694"/>
                    <a:pt x="184967" y="784043"/>
                    <a:pt x="119158" y="784043"/>
                  </a:cubicBezTo>
                  <a:lnTo>
                    <a:pt x="119158" y="784043"/>
                  </a:lnTo>
                  <a:cubicBezTo>
                    <a:pt x="53349" y="784043"/>
                    <a:pt x="0" y="730694"/>
                    <a:pt x="0" y="664885"/>
                  </a:cubicBezTo>
                  <a:lnTo>
                    <a:pt x="0" y="119158"/>
                  </a:lnTo>
                  <a:cubicBezTo>
                    <a:pt x="0" y="53349"/>
                    <a:pt x="53349" y="0"/>
                    <a:pt x="119158" y="0"/>
                  </a:cubicBezTo>
                  <a:close/>
                </a:path>
              </a:pathLst>
            </a:custGeom>
            <a:solidFill>
              <a:srgbClr val="000000"/>
            </a:solidFill>
            <a:ln cap="rnd">
              <a:noFill/>
              <a:prstDash val="solid"/>
              <a:round/>
            </a:ln>
          </p:spPr>
        </p:sp>
        <p:sp>
          <p:nvSpPr>
            <p:cNvPr name="TextBox 21" id="21"/>
            <p:cNvSpPr txBox="true"/>
            <p:nvPr/>
          </p:nvSpPr>
          <p:spPr>
            <a:xfrm>
              <a:off x="0" y="-38100"/>
              <a:ext cx="238315" cy="822143"/>
            </a:xfrm>
            <a:prstGeom prst="rect">
              <a:avLst/>
            </a:prstGeom>
          </p:spPr>
          <p:txBody>
            <a:bodyPr anchor="ctr" rtlCol="false" tIns="50800" lIns="50800" bIns="50800" rIns="50800"/>
            <a:lstStyle/>
            <a:p>
              <a:pPr algn="ctr" marL="0" indent="0" lvl="0">
                <a:lnSpc>
                  <a:spcPts val="2800"/>
                </a:lnSpc>
              </a:pPr>
            </a:p>
          </p:txBody>
        </p:sp>
      </p:grpSp>
      <p:grpSp>
        <p:nvGrpSpPr>
          <p:cNvPr name="Group 22" id="22"/>
          <p:cNvGrpSpPr/>
          <p:nvPr/>
        </p:nvGrpSpPr>
        <p:grpSpPr>
          <a:xfrm rot="0">
            <a:off x="9005076" y="5522708"/>
            <a:ext cx="1232125" cy="123212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grpSp>
        <p:nvGrpSpPr>
          <p:cNvPr name="Group 25" id="25"/>
          <p:cNvGrpSpPr/>
          <p:nvPr/>
        </p:nvGrpSpPr>
        <p:grpSpPr>
          <a:xfrm rot="0">
            <a:off x="14696230" y="4810936"/>
            <a:ext cx="4810212" cy="4216555"/>
            <a:chOff x="0" y="0"/>
            <a:chExt cx="745228" cy="653255"/>
          </a:xfrm>
        </p:grpSpPr>
        <p:sp>
          <p:nvSpPr>
            <p:cNvPr name="Freeform 26" id="26"/>
            <p:cNvSpPr/>
            <p:nvPr/>
          </p:nvSpPr>
          <p:spPr>
            <a:xfrm flipH="false" flipV="false" rot="0">
              <a:off x="0" y="0"/>
              <a:ext cx="745228" cy="653255"/>
            </a:xfrm>
            <a:custGeom>
              <a:avLst/>
              <a:gdLst/>
              <a:ahLst/>
              <a:cxnLst/>
              <a:rect r="r" b="b" t="t" l="l"/>
              <a:pathLst>
                <a:path h="653255" w="745228">
                  <a:moveTo>
                    <a:pt x="65989" y="0"/>
                  </a:moveTo>
                  <a:lnTo>
                    <a:pt x="679239" y="0"/>
                  </a:lnTo>
                  <a:cubicBezTo>
                    <a:pt x="715684" y="0"/>
                    <a:pt x="745228" y="29544"/>
                    <a:pt x="745228" y="65989"/>
                  </a:cubicBezTo>
                  <a:lnTo>
                    <a:pt x="745228" y="587266"/>
                  </a:lnTo>
                  <a:cubicBezTo>
                    <a:pt x="745228" y="604767"/>
                    <a:pt x="738275" y="621552"/>
                    <a:pt x="725900" y="633927"/>
                  </a:cubicBezTo>
                  <a:cubicBezTo>
                    <a:pt x="713525" y="646302"/>
                    <a:pt x="696740" y="653255"/>
                    <a:pt x="679239" y="653255"/>
                  </a:cubicBezTo>
                  <a:lnTo>
                    <a:pt x="65989" y="653255"/>
                  </a:lnTo>
                  <a:cubicBezTo>
                    <a:pt x="29544" y="653255"/>
                    <a:pt x="0" y="623711"/>
                    <a:pt x="0" y="587266"/>
                  </a:cubicBezTo>
                  <a:lnTo>
                    <a:pt x="0" y="65989"/>
                  </a:lnTo>
                  <a:cubicBezTo>
                    <a:pt x="0" y="29544"/>
                    <a:pt x="29544" y="0"/>
                    <a:pt x="65989" y="0"/>
                  </a:cubicBezTo>
                  <a:close/>
                </a:path>
              </a:pathLst>
            </a:custGeom>
            <a:blipFill>
              <a:blip r:embed="rId7"/>
              <a:stretch>
                <a:fillRect l="-19" t="0" r="-19" b="0"/>
              </a:stretch>
            </a:blipFill>
          </p:spPr>
        </p:sp>
      </p:grpSp>
      <p:sp>
        <p:nvSpPr>
          <p:cNvPr name="TextBox 27" id="27"/>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ROADSAFE360</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8" id="28"/>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29" id="29"/>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TextBox 30" id="30"/>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31" id="31"/>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32" id="32"/>
          <p:cNvSpPr txBox="true"/>
          <p:nvPr/>
        </p:nvSpPr>
        <p:spPr>
          <a:xfrm rot="0">
            <a:off x="1173632" y="6005420"/>
            <a:ext cx="7145879" cy="1901467"/>
          </a:xfrm>
          <a:prstGeom prst="rect">
            <a:avLst/>
          </a:prstGeom>
        </p:spPr>
        <p:txBody>
          <a:bodyPr anchor="t" rtlCol="false" tIns="0" lIns="0" bIns="0" rIns="0">
            <a:spAutoFit/>
          </a:bodyPr>
          <a:lstStyle/>
          <a:p>
            <a:pPr algn="just" marL="0" indent="0" lvl="0">
              <a:lnSpc>
                <a:spcPts val="3010"/>
              </a:lnSpc>
            </a:pPr>
            <a:r>
              <a:rPr lang="en-US" sz="2298" spc="-82">
                <a:solidFill>
                  <a:srgbClr val="000000"/>
                </a:solidFill>
                <a:latin typeface="Montserrat"/>
                <a:ea typeface="Montserrat"/>
                <a:cs typeface="Montserrat"/>
                <a:sym typeface="Montserrat"/>
              </a:rPr>
              <a:t>RoadSafe360 is accessible on both mobile and desktop platforms. The Progressive Web App (PWA) supports offline installation on mobile devices, while the full website delivers a rich dashboard experience for all user roles.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Freeform 9" id="9"/>
          <p:cNvSpPr/>
          <p:nvPr/>
        </p:nvSpPr>
        <p:spPr>
          <a:xfrm flipH="false" flipV="false" rot="0">
            <a:off x="-1104711" y="1373603"/>
            <a:ext cx="6284692" cy="6284692"/>
          </a:xfrm>
          <a:custGeom>
            <a:avLst/>
            <a:gdLst/>
            <a:ahLst/>
            <a:cxnLst/>
            <a:rect r="r" b="b" t="t" l="l"/>
            <a:pathLst>
              <a:path h="6284692" w="6284692">
                <a:moveTo>
                  <a:pt x="0" y="0"/>
                </a:moveTo>
                <a:lnTo>
                  <a:pt x="6284692" y="0"/>
                </a:lnTo>
                <a:lnTo>
                  <a:pt x="6284692" y="6284692"/>
                </a:lnTo>
                <a:lnTo>
                  <a:pt x="0" y="6284692"/>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088442" y="4380033"/>
            <a:ext cx="8562972" cy="4405557"/>
            <a:chOff x="0" y="0"/>
            <a:chExt cx="1326628" cy="682536"/>
          </a:xfrm>
        </p:grpSpPr>
        <p:sp>
          <p:nvSpPr>
            <p:cNvPr name="Freeform 11" id="11"/>
            <p:cNvSpPr/>
            <p:nvPr/>
          </p:nvSpPr>
          <p:spPr>
            <a:xfrm flipH="false" flipV="false" rot="0">
              <a:off x="0" y="0"/>
              <a:ext cx="1326629" cy="682536"/>
            </a:xfrm>
            <a:custGeom>
              <a:avLst/>
              <a:gdLst/>
              <a:ahLst/>
              <a:cxnLst/>
              <a:rect r="r" b="b" t="t" l="l"/>
              <a:pathLst>
                <a:path h="682536" w="1326629">
                  <a:moveTo>
                    <a:pt x="37069" y="0"/>
                  </a:moveTo>
                  <a:lnTo>
                    <a:pt x="1289560" y="0"/>
                  </a:lnTo>
                  <a:cubicBezTo>
                    <a:pt x="1299391" y="0"/>
                    <a:pt x="1308820" y="3905"/>
                    <a:pt x="1315771" y="10857"/>
                  </a:cubicBezTo>
                  <a:cubicBezTo>
                    <a:pt x="1322723" y="17809"/>
                    <a:pt x="1326629" y="27238"/>
                    <a:pt x="1326629" y="37069"/>
                  </a:cubicBezTo>
                  <a:lnTo>
                    <a:pt x="1326629" y="645467"/>
                  </a:lnTo>
                  <a:cubicBezTo>
                    <a:pt x="1326629" y="655299"/>
                    <a:pt x="1322723" y="664727"/>
                    <a:pt x="1315771" y="671679"/>
                  </a:cubicBezTo>
                  <a:cubicBezTo>
                    <a:pt x="1308820" y="678631"/>
                    <a:pt x="1299391" y="682536"/>
                    <a:pt x="1289560" y="682536"/>
                  </a:cubicBezTo>
                  <a:lnTo>
                    <a:pt x="37069" y="682536"/>
                  </a:lnTo>
                  <a:cubicBezTo>
                    <a:pt x="27238" y="682536"/>
                    <a:pt x="17809" y="678631"/>
                    <a:pt x="10857" y="671679"/>
                  </a:cubicBezTo>
                  <a:cubicBezTo>
                    <a:pt x="3905" y="664727"/>
                    <a:pt x="0" y="655299"/>
                    <a:pt x="0" y="645467"/>
                  </a:cubicBezTo>
                  <a:lnTo>
                    <a:pt x="0" y="37069"/>
                  </a:lnTo>
                  <a:cubicBezTo>
                    <a:pt x="0" y="27238"/>
                    <a:pt x="3905" y="17809"/>
                    <a:pt x="10857" y="10857"/>
                  </a:cubicBezTo>
                  <a:cubicBezTo>
                    <a:pt x="17809" y="3905"/>
                    <a:pt x="27238" y="0"/>
                    <a:pt x="37069" y="0"/>
                  </a:cubicBezTo>
                  <a:close/>
                </a:path>
              </a:pathLst>
            </a:custGeom>
            <a:blipFill>
              <a:blip r:embed="rId6"/>
              <a:stretch>
                <a:fillRect l="-71" t="0" r="-71" b="0"/>
              </a:stretch>
            </a:blipFill>
          </p:spPr>
        </p:sp>
      </p:grpSp>
      <p:grpSp>
        <p:nvGrpSpPr>
          <p:cNvPr name="Group 12" id="12"/>
          <p:cNvGrpSpPr/>
          <p:nvPr/>
        </p:nvGrpSpPr>
        <p:grpSpPr>
          <a:xfrm rot="0">
            <a:off x="7931229" y="4380033"/>
            <a:ext cx="4551364" cy="6556525"/>
            <a:chOff x="0" y="0"/>
            <a:chExt cx="705125" cy="1015777"/>
          </a:xfrm>
        </p:grpSpPr>
        <p:sp>
          <p:nvSpPr>
            <p:cNvPr name="Freeform 13" id="13"/>
            <p:cNvSpPr/>
            <p:nvPr/>
          </p:nvSpPr>
          <p:spPr>
            <a:xfrm flipH="false" flipV="false" rot="0">
              <a:off x="0" y="0"/>
              <a:ext cx="705125" cy="1015777"/>
            </a:xfrm>
            <a:custGeom>
              <a:avLst/>
              <a:gdLst/>
              <a:ahLst/>
              <a:cxnLst/>
              <a:rect r="r" b="b" t="t" l="l"/>
              <a:pathLst>
                <a:path h="1015777" w="705125">
                  <a:moveTo>
                    <a:pt x="69741" y="0"/>
                  </a:moveTo>
                  <a:lnTo>
                    <a:pt x="635384" y="0"/>
                  </a:lnTo>
                  <a:cubicBezTo>
                    <a:pt x="673901" y="0"/>
                    <a:pt x="705125" y="31224"/>
                    <a:pt x="705125" y="69741"/>
                  </a:cubicBezTo>
                  <a:lnTo>
                    <a:pt x="705125" y="946036"/>
                  </a:lnTo>
                  <a:cubicBezTo>
                    <a:pt x="705125" y="984553"/>
                    <a:pt x="673901" y="1015777"/>
                    <a:pt x="635384" y="1015777"/>
                  </a:cubicBezTo>
                  <a:lnTo>
                    <a:pt x="69741" y="1015777"/>
                  </a:lnTo>
                  <a:cubicBezTo>
                    <a:pt x="51245" y="1015777"/>
                    <a:pt x="33506" y="1008430"/>
                    <a:pt x="20427" y="995350"/>
                  </a:cubicBezTo>
                  <a:cubicBezTo>
                    <a:pt x="7348" y="982271"/>
                    <a:pt x="0" y="964532"/>
                    <a:pt x="0" y="946036"/>
                  </a:cubicBezTo>
                  <a:lnTo>
                    <a:pt x="0" y="69741"/>
                  </a:lnTo>
                  <a:cubicBezTo>
                    <a:pt x="0" y="31224"/>
                    <a:pt x="31224" y="0"/>
                    <a:pt x="69741" y="0"/>
                  </a:cubicBezTo>
                  <a:close/>
                </a:path>
              </a:pathLst>
            </a:custGeom>
            <a:blipFill>
              <a:blip r:embed="rId7"/>
              <a:stretch>
                <a:fillRect l="0" t="-211" r="0" b="-211"/>
              </a:stretch>
            </a:blipFill>
          </p:spPr>
        </p:sp>
      </p:grpSp>
      <p:grpSp>
        <p:nvGrpSpPr>
          <p:cNvPr name="Group 14" id="14"/>
          <p:cNvGrpSpPr/>
          <p:nvPr/>
        </p:nvGrpSpPr>
        <p:grpSpPr>
          <a:xfrm rot="-5400000">
            <a:off x="1608149" y="7780164"/>
            <a:ext cx="760864" cy="2195408"/>
            <a:chOff x="0" y="0"/>
            <a:chExt cx="238315" cy="687639"/>
          </a:xfrm>
        </p:grpSpPr>
        <p:sp>
          <p:nvSpPr>
            <p:cNvPr name="Freeform 15" id="15"/>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6" id="16"/>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7" id="17"/>
          <p:cNvGrpSpPr/>
          <p:nvPr/>
        </p:nvGrpSpPr>
        <p:grpSpPr>
          <a:xfrm rot="-5400000">
            <a:off x="3699437" y="7780164"/>
            <a:ext cx="760864" cy="2195408"/>
            <a:chOff x="0" y="0"/>
            <a:chExt cx="238315" cy="687639"/>
          </a:xfrm>
        </p:grpSpPr>
        <p:sp>
          <p:nvSpPr>
            <p:cNvPr name="Freeform 18" id="18"/>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9" id="19"/>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sp>
        <p:nvSpPr>
          <p:cNvPr name="Freeform 20" id="20"/>
          <p:cNvSpPr/>
          <p:nvPr/>
        </p:nvSpPr>
        <p:spPr>
          <a:xfrm flipH="false" flipV="false" rot="0">
            <a:off x="12902127" y="4854558"/>
            <a:ext cx="6961757" cy="6961757"/>
          </a:xfrm>
          <a:custGeom>
            <a:avLst/>
            <a:gdLst/>
            <a:ahLst/>
            <a:cxnLst/>
            <a:rect r="r" b="b" t="t" l="l"/>
            <a:pathLst>
              <a:path h="6961757" w="6961757">
                <a:moveTo>
                  <a:pt x="0" y="0"/>
                </a:moveTo>
                <a:lnTo>
                  <a:pt x="6961757" y="0"/>
                </a:lnTo>
                <a:lnTo>
                  <a:pt x="6961757" y="6961757"/>
                </a:lnTo>
                <a:lnTo>
                  <a:pt x="0" y="6961757"/>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21" id="21"/>
          <p:cNvGrpSpPr/>
          <p:nvPr/>
        </p:nvGrpSpPr>
        <p:grpSpPr>
          <a:xfrm rot="0">
            <a:off x="11819132" y="5442668"/>
            <a:ext cx="1326922" cy="132692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3946006" y="7548185"/>
            <a:ext cx="2437000" cy="787252"/>
            <a:chOff x="0" y="0"/>
            <a:chExt cx="641844" cy="207342"/>
          </a:xfrm>
        </p:grpSpPr>
        <p:sp>
          <p:nvSpPr>
            <p:cNvPr name="Freeform 25" id="25"/>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26" id="26"/>
            <p:cNvSpPr txBox="true"/>
            <p:nvPr/>
          </p:nvSpPr>
          <p:spPr>
            <a:xfrm>
              <a:off x="0" y="-38100"/>
              <a:ext cx="641844" cy="245442"/>
            </a:xfrm>
            <a:prstGeom prst="rect">
              <a:avLst/>
            </a:prstGeom>
          </p:spPr>
          <p:txBody>
            <a:bodyPr anchor="ctr" rtlCol="false" tIns="50800" lIns="50800" bIns="50800" rIns="50800"/>
            <a:lstStyle/>
            <a:p>
              <a:pPr algn="ctr" marL="0" indent="0" lvl="0">
                <a:lnSpc>
                  <a:spcPts val="2223"/>
                </a:lnSpc>
              </a:pPr>
              <a:r>
                <a:rPr lang="en-US" b="true" sz="1588">
                  <a:solidFill>
                    <a:srgbClr val="000000"/>
                  </a:solidFill>
                  <a:latin typeface="Montserrat Bold"/>
                  <a:ea typeface="Montserrat Bold"/>
                  <a:cs typeface="Montserrat Bold"/>
                  <a:sym typeface="Montserrat Bold"/>
                </a:rPr>
                <a:t>NEXT SLIDE</a:t>
              </a:r>
            </a:p>
          </p:txBody>
        </p:sp>
      </p:grpSp>
      <p:sp>
        <p:nvSpPr>
          <p:cNvPr name="TextBox 27" id="27"/>
          <p:cNvSpPr txBox="true"/>
          <p:nvPr/>
        </p:nvSpPr>
        <p:spPr>
          <a:xfrm rot="0">
            <a:off x="1126643" y="696276"/>
            <a:ext cx="3710438" cy="396796"/>
          </a:xfrm>
          <a:prstGeom prst="rect">
            <a:avLst/>
          </a:prstGeom>
        </p:spPr>
        <p:txBody>
          <a:bodyPr anchor="t" rtlCol="false" tIns="0" lIns="0" bIns="0" rIns="0">
            <a:spAutoFit/>
          </a:bodyPr>
          <a:lstStyle/>
          <a:p>
            <a:pPr algn="l" marL="0" indent="0" lvl="0">
              <a:lnSpc>
                <a:spcPts val="1556"/>
              </a:lnSpc>
            </a:pPr>
            <a:r>
              <a:rPr lang="en-US" b="true" sz="1588" spc="42">
                <a:solidFill>
                  <a:srgbClr val="000000"/>
                </a:solidFill>
                <a:latin typeface="Montserrat Bold"/>
                <a:ea typeface="Montserrat Bold"/>
                <a:cs typeface="Montserrat Bold"/>
                <a:sym typeface="Montserrat Bold"/>
              </a:rPr>
              <a:t>ROADSAFE360</a:t>
            </a:r>
          </a:p>
          <a:p>
            <a:pPr algn="l" marL="0" indent="0" lvl="0">
              <a:lnSpc>
                <a:spcPts val="1556"/>
              </a:lnSpc>
            </a:pPr>
            <a:r>
              <a:rPr lang="en-US" b="true" sz="1588" spc="42">
                <a:solidFill>
                  <a:srgbClr val="000000"/>
                </a:solidFill>
                <a:latin typeface="Montserrat Bold"/>
                <a:ea typeface="Montserrat Bold"/>
                <a:cs typeface="Montserrat Bold"/>
                <a:sym typeface="Montserrat Bold"/>
              </a:rPr>
              <a:t>PBL PROJECT</a:t>
            </a:r>
          </a:p>
        </p:txBody>
      </p:sp>
      <p:sp>
        <p:nvSpPr>
          <p:cNvPr name="TextBox 28" id="28"/>
          <p:cNvSpPr txBox="true"/>
          <p:nvPr/>
        </p:nvSpPr>
        <p:spPr>
          <a:xfrm rot="0">
            <a:off x="5718971" y="793875"/>
            <a:ext cx="1755559" cy="231624"/>
          </a:xfrm>
          <a:prstGeom prst="rect">
            <a:avLst/>
          </a:prstGeom>
        </p:spPr>
        <p:txBody>
          <a:bodyPr anchor="t" rtlCol="false" tIns="0" lIns="0" bIns="0" rIns="0">
            <a:spAutoFit/>
          </a:bodyPr>
          <a:lstStyle/>
          <a:p>
            <a:pPr algn="ctr" marL="0" indent="0" lvl="0">
              <a:lnSpc>
                <a:spcPts val="1933"/>
              </a:lnSpc>
              <a:spcBef>
                <a:spcPct val="0"/>
              </a:spcBef>
            </a:pPr>
            <a:r>
              <a:rPr lang="en-US" sz="1380" spc="160">
                <a:solidFill>
                  <a:srgbClr val="000000"/>
                </a:solidFill>
                <a:latin typeface="Montserrat"/>
                <a:ea typeface="Montserrat"/>
                <a:cs typeface="Montserrat"/>
                <a:sym typeface="Montserrat"/>
              </a:rPr>
              <a:t>HOME</a:t>
            </a:r>
          </a:p>
        </p:txBody>
      </p:sp>
      <p:sp>
        <p:nvSpPr>
          <p:cNvPr name="TextBox 29" id="29"/>
          <p:cNvSpPr txBox="true"/>
          <p:nvPr/>
        </p:nvSpPr>
        <p:spPr>
          <a:xfrm rot="0">
            <a:off x="7844217" y="793875"/>
            <a:ext cx="2013772" cy="231624"/>
          </a:xfrm>
          <a:prstGeom prst="rect">
            <a:avLst/>
          </a:prstGeom>
        </p:spPr>
        <p:txBody>
          <a:bodyPr anchor="t" rtlCol="false" tIns="0" lIns="0" bIns="0" rIns="0">
            <a:spAutoFit/>
          </a:bodyPr>
          <a:lstStyle/>
          <a:p>
            <a:pPr algn="ctr" marL="0" indent="0" lvl="0">
              <a:lnSpc>
                <a:spcPts val="1933"/>
              </a:lnSpc>
              <a:spcBef>
                <a:spcPct val="0"/>
              </a:spcBef>
            </a:pPr>
            <a:r>
              <a:rPr lang="en-US" sz="1380">
                <a:solidFill>
                  <a:srgbClr val="000000"/>
                </a:solidFill>
                <a:latin typeface="Montserrat"/>
                <a:ea typeface="Montserrat"/>
                <a:cs typeface="Montserrat"/>
                <a:sym typeface="Montserrat"/>
              </a:rPr>
              <a:t>ABOUT</a:t>
            </a:r>
          </a:p>
        </p:txBody>
      </p:sp>
      <p:sp>
        <p:nvSpPr>
          <p:cNvPr name="TextBox 30" id="30"/>
          <p:cNvSpPr txBox="true"/>
          <p:nvPr/>
        </p:nvSpPr>
        <p:spPr>
          <a:xfrm rot="0">
            <a:off x="10237201" y="793875"/>
            <a:ext cx="2024119" cy="231624"/>
          </a:xfrm>
          <a:prstGeom prst="rect">
            <a:avLst/>
          </a:prstGeom>
        </p:spPr>
        <p:txBody>
          <a:bodyPr anchor="t" rtlCol="false" tIns="0" lIns="0" bIns="0" rIns="0">
            <a:spAutoFit/>
          </a:bodyPr>
          <a:lstStyle/>
          <a:p>
            <a:pPr algn="ctr" marL="0" indent="0" lvl="0">
              <a:lnSpc>
                <a:spcPts val="1933"/>
              </a:lnSpc>
              <a:spcBef>
                <a:spcPct val="0"/>
              </a:spcBef>
            </a:pPr>
            <a:r>
              <a:rPr lang="en-US" b="true" sz="1380" spc="160">
                <a:solidFill>
                  <a:srgbClr val="000000"/>
                </a:solidFill>
                <a:latin typeface="Montserrat Bold"/>
                <a:ea typeface="Montserrat Bold"/>
                <a:cs typeface="Montserrat Bold"/>
                <a:sym typeface="Montserrat Bold"/>
              </a:rPr>
              <a:t>CONTENT</a:t>
            </a:r>
          </a:p>
        </p:txBody>
      </p:sp>
      <p:sp>
        <p:nvSpPr>
          <p:cNvPr name="TextBox 31" id="31"/>
          <p:cNvSpPr txBox="true"/>
          <p:nvPr/>
        </p:nvSpPr>
        <p:spPr>
          <a:xfrm rot="0">
            <a:off x="12482593" y="793875"/>
            <a:ext cx="2349448" cy="231624"/>
          </a:xfrm>
          <a:prstGeom prst="rect">
            <a:avLst/>
          </a:prstGeom>
        </p:spPr>
        <p:txBody>
          <a:bodyPr anchor="t" rtlCol="false" tIns="0" lIns="0" bIns="0" rIns="0">
            <a:spAutoFit/>
          </a:bodyPr>
          <a:lstStyle/>
          <a:p>
            <a:pPr algn="ctr" marL="0" indent="0" lvl="0">
              <a:lnSpc>
                <a:spcPts val="1933"/>
              </a:lnSpc>
              <a:spcBef>
                <a:spcPct val="0"/>
              </a:spcBef>
            </a:pPr>
            <a:r>
              <a:rPr lang="en-US" sz="1380" spc="160">
                <a:solidFill>
                  <a:srgbClr val="000000"/>
                </a:solidFill>
                <a:latin typeface="Montserrat"/>
                <a:ea typeface="Montserrat"/>
                <a:cs typeface="Montserrat"/>
                <a:sym typeface="Montserrat"/>
              </a:rPr>
              <a:t>OTHERS</a:t>
            </a:r>
          </a:p>
        </p:txBody>
      </p:sp>
      <p:sp>
        <p:nvSpPr>
          <p:cNvPr name="TextBox 32" id="32"/>
          <p:cNvSpPr txBox="true"/>
          <p:nvPr/>
        </p:nvSpPr>
        <p:spPr>
          <a:xfrm rot="0">
            <a:off x="13946006" y="2181829"/>
            <a:ext cx="3013657" cy="4626015"/>
          </a:xfrm>
          <a:prstGeom prst="rect">
            <a:avLst/>
          </a:prstGeom>
        </p:spPr>
        <p:txBody>
          <a:bodyPr anchor="t" rtlCol="false" tIns="0" lIns="0" bIns="0" rIns="0">
            <a:spAutoFit/>
          </a:bodyPr>
          <a:lstStyle/>
          <a:p>
            <a:pPr algn="just" marL="0" indent="0" lvl="0">
              <a:lnSpc>
                <a:spcPts val="2080"/>
              </a:lnSpc>
            </a:pPr>
            <a:r>
              <a:rPr lang="en-US" sz="1588" spc="-57">
                <a:solidFill>
                  <a:srgbClr val="000000"/>
                </a:solidFill>
                <a:latin typeface="Montserrat"/>
                <a:ea typeface="Montserrat"/>
                <a:cs typeface="Montserrat"/>
                <a:sym typeface="Montserrat"/>
              </a:rPr>
              <a:t>Live Demo: roadsafe-opal.vercel.app</a:t>
            </a:r>
          </a:p>
          <a:p>
            <a:pPr algn="just" marL="0" indent="0" lvl="0">
              <a:lnSpc>
                <a:spcPts val="2080"/>
              </a:lnSpc>
            </a:pPr>
            <a:r>
              <a:rPr lang="en-US" sz="1588" spc="-57">
                <a:solidFill>
                  <a:srgbClr val="000000"/>
                </a:solidFill>
                <a:latin typeface="Montserrat"/>
                <a:ea typeface="Montserrat"/>
                <a:cs typeface="Montserrat"/>
                <a:sym typeface="Montserrat"/>
              </a:rPr>
              <a:t>GitHub: github.com/Brian-Kareithi/RoadSafe360</a:t>
            </a:r>
          </a:p>
          <a:p>
            <a:pPr algn="just" marL="0" indent="0" lvl="0">
              <a:lnSpc>
                <a:spcPts val="2080"/>
              </a:lnSpc>
            </a:pPr>
            <a:r>
              <a:rPr lang="en-US" sz="1588" spc="-57">
                <a:solidFill>
                  <a:srgbClr val="000000"/>
                </a:solidFill>
                <a:latin typeface="Montserrat"/>
                <a:ea typeface="Montserrat"/>
                <a:cs typeface="Montserrat"/>
                <a:sym typeface="Montserrat"/>
              </a:rPr>
              <a:t>Project Structure:</a:t>
            </a:r>
          </a:p>
          <a:p>
            <a:pPr algn="just" marL="0" indent="0" lvl="0">
              <a:lnSpc>
                <a:spcPts val="2080"/>
              </a:lnSpc>
            </a:pPr>
            <a:r>
              <a:rPr lang="en-US" sz="1588" spc="-57">
                <a:solidFill>
                  <a:srgbClr val="000000"/>
                </a:solidFill>
                <a:latin typeface="Montserrat"/>
                <a:ea typeface="Montserrat"/>
                <a:cs typeface="Montserrat"/>
                <a:sym typeface="Montserrat"/>
              </a:rPr>
              <a:t>• /app — Next.js App Router pages</a:t>
            </a:r>
          </a:p>
          <a:p>
            <a:pPr algn="just" marL="0" indent="0" lvl="0">
              <a:lnSpc>
                <a:spcPts val="2080"/>
              </a:lnSpc>
            </a:pPr>
            <a:r>
              <a:rPr lang="en-US" sz="1588" spc="-57">
                <a:solidFill>
                  <a:srgbClr val="000000"/>
                </a:solidFill>
                <a:latin typeface="Montserrat"/>
                <a:ea typeface="Montserrat"/>
                <a:cs typeface="Montserrat"/>
                <a:sym typeface="Montserrat"/>
              </a:rPr>
              <a:t>• /components — Reusable UI components</a:t>
            </a:r>
          </a:p>
          <a:p>
            <a:pPr algn="just" marL="0" indent="0" lvl="0">
              <a:lnSpc>
                <a:spcPts val="2080"/>
              </a:lnSpc>
            </a:pPr>
            <a:r>
              <a:rPr lang="en-US" sz="1588" spc="-57">
                <a:solidFill>
                  <a:srgbClr val="000000"/>
                </a:solidFill>
                <a:latin typeface="Montserrat"/>
                <a:ea typeface="Montserrat"/>
                <a:cs typeface="Montserrat"/>
                <a:sym typeface="Montserrat"/>
              </a:rPr>
              <a:t>• /contexts — Auth &amp; role contexts</a:t>
            </a:r>
          </a:p>
          <a:p>
            <a:pPr algn="just" marL="0" indent="0" lvl="0">
              <a:lnSpc>
                <a:spcPts val="2080"/>
              </a:lnSpc>
            </a:pPr>
            <a:r>
              <a:rPr lang="en-US" sz="1588" spc="-57">
                <a:solidFill>
                  <a:srgbClr val="000000"/>
                </a:solidFill>
                <a:latin typeface="Montserrat"/>
                <a:ea typeface="Montserrat"/>
                <a:cs typeface="Montserrat"/>
                <a:sym typeface="Montserrat"/>
              </a:rPr>
              <a:t>• /firebase — Config &amp; Firestore logic</a:t>
            </a:r>
          </a:p>
          <a:p>
            <a:pPr algn="just" marL="0" indent="0" lvl="0">
              <a:lnSpc>
                <a:spcPts val="2080"/>
              </a:lnSpc>
            </a:pPr>
            <a:r>
              <a:rPr lang="en-US" sz="1588" spc="-57">
                <a:solidFill>
                  <a:srgbClr val="000000"/>
                </a:solidFill>
                <a:latin typeface="Montserrat"/>
                <a:ea typeface="Montserrat"/>
                <a:cs typeface="Montserrat"/>
                <a:sym typeface="Montserrat"/>
              </a:rPr>
              <a:t>• /seed — Sample drivers &amp; offences</a:t>
            </a:r>
          </a:p>
          <a:p>
            <a:pPr algn="just" marL="0" indent="0" lvl="0">
              <a:lnSpc>
                <a:spcPts val="2080"/>
              </a:lnSpc>
            </a:pPr>
            <a:r>
              <a:rPr lang="en-US" sz="1588" spc="-57">
                <a:solidFill>
                  <a:srgbClr val="000000"/>
                </a:solidFill>
                <a:latin typeface="Montserrat"/>
                <a:ea typeface="Montserrat"/>
                <a:cs typeface="Montserrat"/>
                <a:sym typeface="Montserrat"/>
              </a:rPr>
              <a:t>Hosted on Vercel. Firebase backend requires no .env setup — ready to deploy instantly.</a:t>
            </a:r>
          </a:p>
        </p:txBody>
      </p:sp>
      <p:sp>
        <p:nvSpPr>
          <p:cNvPr name="TextBox 33" id="33"/>
          <p:cNvSpPr txBox="true"/>
          <p:nvPr/>
        </p:nvSpPr>
        <p:spPr>
          <a:xfrm rot="0">
            <a:off x="1126643" y="2264933"/>
            <a:ext cx="12019411" cy="874184"/>
          </a:xfrm>
          <a:prstGeom prst="rect">
            <a:avLst/>
          </a:prstGeom>
        </p:spPr>
        <p:txBody>
          <a:bodyPr anchor="t" rtlCol="false" tIns="0" lIns="0" bIns="0" rIns="0">
            <a:spAutoFit/>
          </a:bodyPr>
          <a:lstStyle/>
          <a:p>
            <a:pPr algn="just" marL="0" indent="0" lvl="0">
              <a:lnSpc>
                <a:spcPts val="6688"/>
              </a:lnSpc>
            </a:pPr>
            <a:r>
              <a:rPr lang="en-US" b="true" sz="6309" spc="-422">
                <a:solidFill>
                  <a:srgbClr val="000000"/>
                </a:solidFill>
                <a:latin typeface="Montserrat Bold"/>
                <a:ea typeface="Montserrat Bold"/>
                <a:cs typeface="Montserrat Bold"/>
                <a:sym typeface="Montserrat Bold"/>
              </a:rPr>
              <a:t>Deployment &amp; Project Structure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Freeform 9" id="9"/>
          <p:cNvSpPr/>
          <p:nvPr/>
        </p:nvSpPr>
        <p:spPr>
          <a:xfrm flipH="false" flipV="false" rot="0">
            <a:off x="13911295" y="1374558"/>
            <a:ext cx="6436750" cy="6436750"/>
          </a:xfrm>
          <a:custGeom>
            <a:avLst/>
            <a:gdLst/>
            <a:ahLst/>
            <a:cxnLst/>
            <a:rect r="r" b="b" t="t" l="l"/>
            <a:pathLst>
              <a:path h="6436750" w="6436750">
                <a:moveTo>
                  <a:pt x="0" y="0"/>
                </a:moveTo>
                <a:lnTo>
                  <a:pt x="6436750" y="0"/>
                </a:lnTo>
                <a:lnTo>
                  <a:pt x="6436750" y="6436750"/>
                </a:lnTo>
                <a:lnTo>
                  <a:pt x="0" y="643675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872002" y="2172242"/>
            <a:ext cx="6436750" cy="6436750"/>
          </a:xfrm>
          <a:custGeom>
            <a:avLst/>
            <a:gdLst/>
            <a:ahLst/>
            <a:cxnLst/>
            <a:rect r="r" b="b" t="t" l="l"/>
            <a:pathLst>
              <a:path h="6436750" w="6436750">
                <a:moveTo>
                  <a:pt x="0" y="0"/>
                </a:moveTo>
                <a:lnTo>
                  <a:pt x="6436751" y="0"/>
                </a:lnTo>
                <a:lnTo>
                  <a:pt x="6436751" y="6436750"/>
                </a:lnTo>
                <a:lnTo>
                  <a:pt x="0" y="643675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126643" y="705801"/>
            <a:ext cx="3710438" cy="408675"/>
          </a:xfrm>
          <a:prstGeom prst="rect">
            <a:avLst/>
          </a:prstGeom>
        </p:spPr>
        <p:txBody>
          <a:bodyPr anchor="t" rtlCol="false" tIns="0" lIns="0" bIns="0" rIns="0">
            <a:spAutoFit/>
          </a:bodyPr>
          <a:lstStyle/>
          <a:p>
            <a:pPr algn="l" marL="0" indent="0" lvl="0">
              <a:lnSpc>
                <a:spcPts val="1638"/>
              </a:lnSpc>
            </a:pPr>
            <a:r>
              <a:rPr lang="en-US" b="true" sz="1672" spc="45">
                <a:solidFill>
                  <a:srgbClr val="000000"/>
                </a:solidFill>
                <a:latin typeface="Montserrat Bold"/>
                <a:ea typeface="Montserrat Bold"/>
                <a:cs typeface="Montserrat Bold"/>
                <a:sym typeface="Montserrat Bold"/>
              </a:rPr>
              <a:t>ROADSAFE360</a:t>
            </a:r>
          </a:p>
          <a:p>
            <a:pPr algn="l" marL="0" indent="0" lvl="0">
              <a:lnSpc>
                <a:spcPts val="1638"/>
              </a:lnSpc>
            </a:pPr>
            <a:r>
              <a:rPr lang="en-US" b="true" sz="1672" spc="45">
                <a:solidFill>
                  <a:srgbClr val="000000"/>
                </a:solidFill>
                <a:latin typeface="Montserrat Bold"/>
                <a:ea typeface="Montserrat Bold"/>
                <a:cs typeface="Montserrat Bold"/>
                <a:sym typeface="Montserrat Bold"/>
              </a:rPr>
              <a:t>PRESENTATION</a:t>
            </a:r>
          </a:p>
        </p:txBody>
      </p:sp>
      <p:sp>
        <p:nvSpPr>
          <p:cNvPr name="TextBox 12" id="12"/>
          <p:cNvSpPr txBox="true"/>
          <p:nvPr/>
        </p:nvSpPr>
        <p:spPr>
          <a:xfrm rot="0">
            <a:off x="5718971" y="793875"/>
            <a:ext cx="1755559" cy="248813"/>
          </a:xfrm>
          <a:prstGeom prst="rect">
            <a:avLst/>
          </a:prstGeom>
        </p:spPr>
        <p:txBody>
          <a:bodyPr anchor="t" rtlCol="false" tIns="0" lIns="0" bIns="0" rIns="0">
            <a:spAutoFit/>
          </a:bodyPr>
          <a:lstStyle/>
          <a:p>
            <a:pPr algn="ctr" marL="0" indent="0" lvl="0">
              <a:lnSpc>
                <a:spcPts val="2035"/>
              </a:lnSpc>
              <a:spcBef>
                <a:spcPct val="0"/>
              </a:spcBef>
            </a:pPr>
            <a:r>
              <a:rPr lang="en-US" sz="1454" spc="168">
                <a:solidFill>
                  <a:srgbClr val="000000"/>
                </a:solidFill>
                <a:latin typeface="Montserrat"/>
                <a:ea typeface="Montserrat"/>
                <a:cs typeface="Montserrat"/>
                <a:sym typeface="Montserrat"/>
              </a:rPr>
              <a:t>HOME</a:t>
            </a:r>
          </a:p>
        </p:txBody>
      </p:sp>
      <p:sp>
        <p:nvSpPr>
          <p:cNvPr name="TextBox 13" id="13"/>
          <p:cNvSpPr txBox="true"/>
          <p:nvPr/>
        </p:nvSpPr>
        <p:spPr>
          <a:xfrm rot="0">
            <a:off x="7844217" y="793875"/>
            <a:ext cx="2013772" cy="248813"/>
          </a:xfrm>
          <a:prstGeom prst="rect">
            <a:avLst/>
          </a:prstGeom>
        </p:spPr>
        <p:txBody>
          <a:bodyPr anchor="t" rtlCol="false" tIns="0" lIns="0" bIns="0" rIns="0">
            <a:spAutoFit/>
          </a:bodyPr>
          <a:lstStyle/>
          <a:p>
            <a:pPr algn="ctr" marL="0" indent="0" lvl="0">
              <a:lnSpc>
                <a:spcPts val="2035"/>
              </a:lnSpc>
              <a:spcBef>
                <a:spcPct val="0"/>
              </a:spcBef>
            </a:pPr>
            <a:r>
              <a:rPr lang="en-US" sz="1454">
                <a:solidFill>
                  <a:srgbClr val="000000"/>
                </a:solidFill>
                <a:latin typeface="Montserrat"/>
                <a:ea typeface="Montserrat"/>
                <a:cs typeface="Montserrat"/>
                <a:sym typeface="Montserrat"/>
              </a:rPr>
              <a:t>ABOUT</a:t>
            </a:r>
          </a:p>
        </p:txBody>
      </p:sp>
      <p:sp>
        <p:nvSpPr>
          <p:cNvPr name="TextBox 14" id="14"/>
          <p:cNvSpPr txBox="true"/>
          <p:nvPr/>
        </p:nvSpPr>
        <p:spPr>
          <a:xfrm rot="0">
            <a:off x="10237201" y="793875"/>
            <a:ext cx="2024119" cy="248813"/>
          </a:xfrm>
          <a:prstGeom prst="rect">
            <a:avLst/>
          </a:prstGeom>
        </p:spPr>
        <p:txBody>
          <a:bodyPr anchor="t" rtlCol="false" tIns="0" lIns="0" bIns="0" rIns="0">
            <a:spAutoFit/>
          </a:bodyPr>
          <a:lstStyle/>
          <a:p>
            <a:pPr algn="ctr" marL="0" indent="0" lvl="0">
              <a:lnSpc>
                <a:spcPts val="2035"/>
              </a:lnSpc>
              <a:spcBef>
                <a:spcPct val="0"/>
              </a:spcBef>
            </a:pPr>
            <a:r>
              <a:rPr lang="en-US" b="true" sz="1454" spc="168">
                <a:solidFill>
                  <a:srgbClr val="000000"/>
                </a:solidFill>
                <a:latin typeface="Montserrat Bold"/>
                <a:ea typeface="Montserrat Bold"/>
                <a:cs typeface="Montserrat Bold"/>
                <a:sym typeface="Montserrat Bold"/>
              </a:rPr>
              <a:t>CONTENT</a:t>
            </a:r>
          </a:p>
        </p:txBody>
      </p:sp>
      <p:sp>
        <p:nvSpPr>
          <p:cNvPr name="TextBox 15" id="15"/>
          <p:cNvSpPr txBox="true"/>
          <p:nvPr/>
        </p:nvSpPr>
        <p:spPr>
          <a:xfrm rot="0">
            <a:off x="12482593" y="793875"/>
            <a:ext cx="2349448" cy="248813"/>
          </a:xfrm>
          <a:prstGeom prst="rect">
            <a:avLst/>
          </a:prstGeom>
        </p:spPr>
        <p:txBody>
          <a:bodyPr anchor="t" rtlCol="false" tIns="0" lIns="0" bIns="0" rIns="0">
            <a:spAutoFit/>
          </a:bodyPr>
          <a:lstStyle/>
          <a:p>
            <a:pPr algn="ctr" marL="0" indent="0" lvl="0">
              <a:lnSpc>
                <a:spcPts val="2035"/>
              </a:lnSpc>
              <a:spcBef>
                <a:spcPct val="0"/>
              </a:spcBef>
            </a:pPr>
            <a:r>
              <a:rPr lang="en-US" sz="1454" spc="168">
                <a:solidFill>
                  <a:srgbClr val="000000"/>
                </a:solidFill>
                <a:latin typeface="Montserrat"/>
                <a:ea typeface="Montserrat"/>
                <a:cs typeface="Montserrat"/>
                <a:sym typeface="Montserrat"/>
              </a:rPr>
              <a:t>OTHERS</a:t>
            </a:r>
          </a:p>
        </p:txBody>
      </p:sp>
      <p:grpSp>
        <p:nvGrpSpPr>
          <p:cNvPr name="Group 16" id="16"/>
          <p:cNvGrpSpPr/>
          <p:nvPr/>
        </p:nvGrpSpPr>
        <p:grpSpPr>
          <a:xfrm rot="0">
            <a:off x="799326" y="8783971"/>
            <a:ext cx="16689348" cy="815308"/>
            <a:chOff x="0" y="0"/>
            <a:chExt cx="4395548" cy="214731"/>
          </a:xfrm>
        </p:grpSpPr>
        <p:sp>
          <p:nvSpPr>
            <p:cNvPr name="Freeform 17" id="17"/>
            <p:cNvSpPr/>
            <p:nvPr/>
          </p:nvSpPr>
          <p:spPr>
            <a:xfrm flipH="false" flipV="false" rot="0">
              <a:off x="0" y="0"/>
              <a:ext cx="4395548" cy="214731"/>
            </a:xfrm>
            <a:custGeom>
              <a:avLst/>
              <a:gdLst/>
              <a:ahLst/>
              <a:cxnLst/>
              <a:rect r="r" b="b" t="t" l="l"/>
              <a:pathLst>
                <a:path h="214731" w="4395548">
                  <a:moveTo>
                    <a:pt x="13917" y="0"/>
                  </a:moveTo>
                  <a:lnTo>
                    <a:pt x="4381632" y="0"/>
                  </a:lnTo>
                  <a:cubicBezTo>
                    <a:pt x="4389318" y="0"/>
                    <a:pt x="4395548" y="6231"/>
                    <a:pt x="4395548" y="13917"/>
                  </a:cubicBezTo>
                  <a:lnTo>
                    <a:pt x="4395548" y="200815"/>
                  </a:lnTo>
                  <a:cubicBezTo>
                    <a:pt x="4395548" y="204506"/>
                    <a:pt x="4394082" y="208045"/>
                    <a:pt x="4391472" y="210655"/>
                  </a:cubicBezTo>
                  <a:cubicBezTo>
                    <a:pt x="4388862" y="213265"/>
                    <a:pt x="4385323" y="214731"/>
                    <a:pt x="4381632" y="214731"/>
                  </a:cubicBezTo>
                  <a:lnTo>
                    <a:pt x="13917" y="214731"/>
                  </a:lnTo>
                  <a:cubicBezTo>
                    <a:pt x="10226" y="214731"/>
                    <a:pt x="6686" y="213265"/>
                    <a:pt x="4076" y="210655"/>
                  </a:cubicBezTo>
                  <a:cubicBezTo>
                    <a:pt x="1466" y="208045"/>
                    <a:pt x="0" y="204506"/>
                    <a:pt x="0" y="200815"/>
                  </a:cubicBezTo>
                  <a:lnTo>
                    <a:pt x="0" y="13917"/>
                  </a:lnTo>
                  <a:cubicBezTo>
                    <a:pt x="0" y="10226"/>
                    <a:pt x="1466" y="6686"/>
                    <a:pt x="4076" y="4076"/>
                  </a:cubicBezTo>
                  <a:cubicBezTo>
                    <a:pt x="6686" y="1466"/>
                    <a:pt x="10226" y="0"/>
                    <a:pt x="13917" y="0"/>
                  </a:cubicBezTo>
                  <a:close/>
                </a:path>
              </a:pathLst>
            </a:custGeom>
            <a:solidFill>
              <a:srgbClr val="000000"/>
            </a:solidFill>
            <a:ln cap="rnd">
              <a:noFill/>
              <a:prstDash val="solid"/>
              <a:round/>
            </a:ln>
          </p:spPr>
        </p:sp>
        <p:sp>
          <p:nvSpPr>
            <p:cNvPr name="TextBox 18" id="18"/>
            <p:cNvSpPr txBox="true"/>
            <p:nvPr/>
          </p:nvSpPr>
          <p:spPr>
            <a:xfrm>
              <a:off x="0" y="-38100"/>
              <a:ext cx="4395548" cy="252831"/>
            </a:xfrm>
            <a:prstGeom prst="rect">
              <a:avLst/>
            </a:prstGeom>
          </p:spPr>
          <p:txBody>
            <a:bodyPr anchor="ctr" rtlCol="false" tIns="50800" lIns="50800" bIns="50800" rIns="50800"/>
            <a:lstStyle/>
            <a:p>
              <a:pPr algn="ctr" marL="0" indent="0" lvl="0">
                <a:lnSpc>
                  <a:spcPts val="2800"/>
                </a:lnSpc>
              </a:pPr>
            </a:p>
          </p:txBody>
        </p:sp>
      </p:grpSp>
      <p:grpSp>
        <p:nvGrpSpPr>
          <p:cNvPr name="Group 19" id="19"/>
          <p:cNvGrpSpPr/>
          <p:nvPr/>
        </p:nvGrpSpPr>
        <p:grpSpPr>
          <a:xfrm rot="0">
            <a:off x="1028700" y="8960184"/>
            <a:ext cx="462882" cy="462882"/>
            <a:chOff x="0" y="0"/>
            <a:chExt cx="673100" cy="673100"/>
          </a:xfrm>
        </p:grpSpPr>
        <p:sp>
          <p:nvSpPr>
            <p:cNvPr name="Freeform 20" id="20"/>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21" id="21"/>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grpSp>
        <p:nvGrpSpPr>
          <p:cNvPr name="Group 22" id="22"/>
          <p:cNvGrpSpPr/>
          <p:nvPr/>
        </p:nvGrpSpPr>
        <p:grpSpPr>
          <a:xfrm rot="0">
            <a:off x="16796418" y="8960184"/>
            <a:ext cx="462882" cy="462882"/>
            <a:chOff x="0" y="0"/>
            <a:chExt cx="673100" cy="673100"/>
          </a:xfrm>
        </p:grpSpPr>
        <p:sp>
          <p:nvSpPr>
            <p:cNvPr name="Freeform 23" id="23"/>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24" id="24"/>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
        <p:nvSpPr>
          <p:cNvPr name="TextBox 25" id="25"/>
          <p:cNvSpPr txBox="true"/>
          <p:nvPr/>
        </p:nvSpPr>
        <p:spPr>
          <a:xfrm rot="0">
            <a:off x="1461629" y="8948947"/>
            <a:ext cx="15364742" cy="350525"/>
          </a:xfrm>
          <a:prstGeom prst="rect">
            <a:avLst/>
          </a:prstGeom>
        </p:spPr>
        <p:txBody>
          <a:bodyPr anchor="t" rtlCol="false" tIns="0" lIns="0" bIns="0" rIns="0">
            <a:spAutoFit/>
          </a:bodyPr>
          <a:lstStyle/>
          <a:p>
            <a:pPr algn="ctr" marL="0" indent="0" lvl="0">
              <a:lnSpc>
                <a:spcPts val="2857"/>
              </a:lnSpc>
            </a:pPr>
            <a:r>
              <a:rPr lang="en-US" b="true" sz="2181" spc="-78">
                <a:solidFill>
                  <a:srgbClr val="FFFFFF"/>
                </a:solidFill>
                <a:latin typeface="Montserrat Bold"/>
                <a:ea typeface="Montserrat Bold"/>
                <a:cs typeface="Montserrat Bold"/>
                <a:sym typeface="Montserrat Bold"/>
              </a:rPr>
              <a:t>ROADSAFE360 - INTELLIGENT DRIVER DEMERIT &amp; ROAD SAFETY MANAGEMENT SYSTEM - YEAR 8 PBL PROJECT</a:t>
            </a:r>
          </a:p>
        </p:txBody>
      </p:sp>
      <p:grpSp>
        <p:nvGrpSpPr>
          <p:cNvPr name="Group 26" id="26"/>
          <p:cNvGrpSpPr/>
          <p:nvPr/>
        </p:nvGrpSpPr>
        <p:grpSpPr>
          <a:xfrm rot="0">
            <a:off x="7925500" y="6875137"/>
            <a:ext cx="2437000" cy="787252"/>
            <a:chOff x="0" y="0"/>
            <a:chExt cx="641844" cy="207342"/>
          </a:xfrm>
        </p:grpSpPr>
        <p:sp>
          <p:nvSpPr>
            <p:cNvPr name="Freeform 27" id="27"/>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28" id="28"/>
            <p:cNvSpPr txBox="true"/>
            <p:nvPr/>
          </p:nvSpPr>
          <p:spPr>
            <a:xfrm>
              <a:off x="0" y="-28575"/>
              <a:ext cx="641844" cy="235917"/>
            </a:xfrm>
            <a:prstGeom prst="rect">
              <a:avLst/>
            </a:prstGeom>
          </p:spPr>
          <p:txBody>
            <a:bodyPr anchor="ctr" rtlCol="false" tIns="50800" lIns="50800" bIns="50800" rIns="50800"/>
            <a:lstStyle/>
            <a:p>
              <a:pPr algn="ctr" marL="0" indent="0" lvl="0">
                <a:lnSpc>
                  <a:spcPts val="2341"/>
                </a:lnSpc>
              </a:pPr>
              <a:r>
                <a:rPr lang="en-US" b="true" sz="1672">
                  <a:solidFill>
                    <a:srgbClr val="000000"/>
                  </a:solidFill>
                  <a:latin typeface="Montserrat Bold"/>
                  <a:ea typeface="Montserrat Bold"/>
                  <a:cs typeface="Montserrat Bold"/>
                  <a:sym typeface="Montserrat Bold"/>
                </a:rPr>
                <a:t>TRY DEMO</a:t>
              </a:r>
            </a:p>
          </p:txBody>
        </p:sp>
      </p:grpSp>
      <p:sp>
        <p:nvSpPr>
          <p:cNvPr name="TextBox 29" id="29"/>
          <p:cNvSpPr txBox="true"/>
          <p:nvPr/>
        </p:nvSpPr>
        <p:spPr>
          <a:xfrm rot="0">
            <a:off x="1654883" y="2594915"/>
            <a:ext cx="14978234" cy="2337164"/>
          </a:xfrm>
          <a:prstGeom prst="rect">
            <a:avLst/>
          </a:prstGeom>
        </p:spPr>
        <p:txBody>
          <a:bodyPr anchor="t" rtlCol="false" tIns="0" lIns="0" bIns="0" rIns="0">
            <a:spAutoFit/>
          </a:bodyPr>
          <a:lstStyle/>
          <a:p>
            <a:pPr algn="ctr" marL="0" indent="0" lvl="0">
              <a:lnSpc>
                <a:spcPts val="8940"/>
              </a:lnSpc>
            </a:pPr>
            <a:r>
              <a:rPr lang="en-US" b="true" sz="9411" spc="-630">
                <a:solidFill>
                  <a:srgbClr val="000000"/>
                </a:solidFill>
                <a:latin typeface="Montserrat Bold"/>
                <a:ea typeface="Montserrat Bold"/>
                <a:cs typeface="Montserrat Bold"/>
                <a:sym typeface="Montserrat Bold"/>
              </a:rPr>
              <a:t>Educational Value</a:t>
            </a:r>
          </a:p>
          <a:p>
            <a:pPr algn="ctr" marL="0" indent="0" lvl="0">
              <a:lnSpc>
                <a:spcPts val="8940"/>
              </a:lnSpc>
            </a:pPr>
            <a:r>
              <a:rPr lang="en-US" b="true" sz="9411" spc="-630">
                <a:solidFill>
                  <a:srgbClr val="000000"/>
                </a:solidFill>
                <a:latin typeface="Montserrat Bold"/>
                <a:ea typeface="Montserrat Bold"/>
                <a:cs typeface="Montserrat Bold"/>
                <a:sym typeface="Montserrat Bold"/>
              </a:rPr>
              <a:t>&amp; Future Work</a:t>
            </a:r>
          </a:p>
        </p:txBody>
      </p:sp>
      <p:sp>
        <p:nvSpPr>
          <p:cNvPr name="TextBox 30" id="30"/>
          <p:cNvSpPr txBox="true"/>
          <p:nvPr/>
        </p:nvSpPr>
        <p:spPr>
          <a:xfrm rot="0">
            <a:off x="1126643" y="6863500"/>
            <a:ext cx="5470108" cy="1091062"/>
          </a:xfrm>
          <a:prstGeom prst="rect">
            <a:avLst/>
          </a:prstGeom>
        </p:spPr>
        <p:txBody>
          <a:bodyPr anchor="t" rtlCol="false" tIns="0" lIns="0" bIns="0" rIns="0">
            <a:spAutoFit/>
          </a:bodyPr>
          <a:lstStyle/>
          <a:p>
            <a:pPr algn="just" marL="0" indent="0" lvl="0">
              <a:lnSpc>
                <a:spcPts val="2190"/>
              </a:lnSpc>
            </a:pPr>
            <a:r>
              <a:rPr lang="en-US" sz="1672" spc="-60">
                <a:solidFill>
                  <a:srgbClr val="000000"/>
                </a:solidFill>
                <a:latin typeface="Montserrat"/>
                <a:ea typeface="Montserrat"/>
                <a:cs typeface="Montserrat"/>
                <a:sym typeface="Montserrat"/>
              </a:rPr>
              <a:t>A PBL classroom tool teaching web development, road safety, and data management. Simulates real-world Kenyan transport systems with regional context, local offences, and live data.</a:t>
            </a:r>
          </a:p>
        </p:txBody>
      </p:sp>
      <p:sp>
        <p:nvSpPr>
          <p:cNvPr name="TextBox 31" id="31"/>
          <p:cNvSpPr txBox="true"/>
          <p:nvPr/>
        </p:nvSpPr>
        <p:spPr>
          <a:xfrm rot="0">
            <a:off x="11696000" y="6673000"/>
            <a:ext cx="5470108" cy="814837"/>
          </a:xfrm>
          <a:prstGeom prst="rect">
            <a:avLst/>
          </a:prstGeom>
        </p:spPr>
        <p:txBody>
          <a:bodyPr anchor="t" rtlCol="false" tIns="0" lIns="0" bIns="0" rIns="0">
            <a:spAutoFit/>
          </a:bodyPr>
          <a:lstStyle/>
          <a:p>
            <a:pPr algn="just" marL="0" indent="0" lvl="0">
              <a:lnSpc>
                <a:spcPts val="2190"/>
              </a:lnSpc>
            </a:pPr>
            <a:r>
              <a:rPr lang="en-US" sz="1672" spc="-60">
                <a:solidFill>
                  <a:srgbClr val="000000"/>
                </a:solidFill>
                <a:latin typeface="Montserrat"/>
                <a:ea typeface="Montserrat"/>
                <a:cs typeface="Montserrat"/>
                <a:sym typeface="Montserrat"/>
              </a:rPr>
              <a:t>Future expansions: more Kenyan regions, mobile app improvements, and AI-driven risk predictions. Explore the system, try the demo, learn road safety smartly!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05801"/>
            <a:ext cx="3710438" cy="408538"/>
          </a:xfrm>
          <a:prstGeom prst="rect">
            <a:avLst/>
          </a:prstGeom>
        </p:spPr>
        <p:txBody>
          <a:bodyPr anchor="t" rtlCol="false" tIns="0" lIns="0" bIns="0" rIns="0">
            <a:spAutoFit/>
          </a:bodyPr>
          <a:lstStyle/>
          <a:p>
            <a:pPr algn="l" marL="0" indent="0" lvl="0">
              <a:lnSpc>
                <a:spcPts val="1634"/>
              </a:lnSpc>
            </a:pPr>
            <a:r>
              <a:rPr lang="en-US" b="true" sz="1667" spc="45">
                <a:solidFill>
                  <a:srgbClr val="000000"/>
                </a:solidFill>
                <a:latin typeface="Montserrat Bold"/>
                <a:ea typeface="Montserrat Bold"/>
                <a:cs typeface="Montserrat Bold"/>
                <a:sym typeface="Montserrat Bold"/>
              </a:rPr>
              <a:t>ROADSAFE360</a:t>
            </a:r>
          </a:p>
          <a:p>
            <a:pPr algn="l" marL="0" indent="0" lvl="0">
              <a:lnSpc>
                <a:spcPts val="1634"/>
              </a:lnSpc>
            </a:pPr>
            <a:r>
              <a:rPr lang="en-US" b="true" sz="1667" spc="45">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248922"/>
          </a:xfrm>
          <a:prstGeom prst="rect">
            <a:avLst/>
          </a:prstGeom>
        </p:spPr>
        <p:txBody>
          <a:bodyPr anchor="t" rtlCol="false" tIns="0" lIns="0" bIns="0" rIns="0">
            <a:spAutoFit/>
          </a:bodyPr>
          <a:lstStyle/>
          <a:p>
            <a:pPr algn="ctr" marL="0" indent="0" lvl="0">
              <a:lnSpc>
                <a:spcPts val="2029"/>
              </a:lnSpc>
              <a:spcBef>
                <a:spcPct val="0"/>
              </a:spcBef>
            </a:pPr>
            <a:r>
              <a:rPr lang="en-US" sz="1449" spc="168">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248922"/>
          </a:xfrm>
          <a:prstGeom prst="rect">
            <a:avLst/>
          </a:prstGeom>
        </p:spPr>
        <p:txBody>
          <a:bodyPr anchor="t" rtlCol="false" tIns="0" lIns="0" bIns="0" rIns="0">
            <a:spAutoFit/>
          </a:bodyPr>
          <a:lstStyle/>
          <a:p>
            <a:pPr algn="ctr" marL="0" indent="0" lvl="0">
              <a:lnSpc>
                <a:spcPts val="2029"/>
              </a:lnSpc>
              <a:spcBef>
                <a:spcPct val="0"/>
              </a:spcBef>
            </a:pPr>
            <a:r>
              <a:rPr lang="en-US" sz="1449">
                <a:solidFill>
                  <a:srgbClr val="000000"/>
                </a:solidFill>
                <a:latin typeface="Montserrat"/>
                <a:ea typeface="Montserrat"/>
                <a:cs typeface="Montserrat"/>
                <a:sym typeface="Montserrat"/>
              </a:rPr>
              <a:t>ABOUT</a:t>
            </a:r>
          </a:p>
        </p:txBody>
      </p:sp>
      <p:sp>
        <p:nvSpPr>
          <p:cNvPr name="TextBox 12" id="12"/>
          <p:cNvSpPr txBox="true"/>
          <p:nvPr/>
        </p:nvSpPr>
        <p:spPr>
          <a:xfrm rot="0">
            <a:off x="10237201" y="793875"/>
            <a:ext cx="2024119" cy="248922"/>
          </a:xfrm>
          <a:prstGeom prst="rect">
            <a:avLst/>
          </a:prstGeom>
        </p:spPr>
        <p:txBody>
          <a:bodyPr anchor="t" rtlCol="false" tIns="0" lIns="0" bIns="0" rIns="0">
            <a:spAutoFit/>
          </a:bodyPr>
          <a:lstStyle/>
          <a:p>
            <a:pPr algn="ctr" marL="0" indent="0" lvl="0">
              <a:lnSpc>
                <a:spcPts val="2029"/>
              </a:lnSpc>
              <a:spcBef>
                <a:spcPct val="0"/>
              </a:spcBef>
            </a:pPr>
            <a:r>
              <a:rPr lang="en-US" sz="1449" spc="168">
                <a:solidFill>
                  <a:srgbClr val="000000"/>
                </a:solidFill>
                <a:latin typeface="Montserrat"/>
                <a:ea typeface="Montserrat"/>
                <a:cs typeface="Montserrat"/>
                <a:sym typeface="Montserrat"/>
              </a:rPr>
              <a:t>CONTENT</a:t>
            </a:r>
          </a:p>
        </p:txBody>
      </p:sp>
      <p:sp>
        <p:nvSpPr>
          <p:cNvPr name="TextBox 13" id="13"/>
          <p:cNvSpPr txBox="true"/>
          <p:nvPr/>
        </p:nvSpPr>
        <p:spPr>
          <a:xfrm rot="0">
            <a:off x="12482593" y="793875"/>
            <a:ext cx="2349448" cy="248922"/>
          </a:xfrm>
          <a:prstGeom prst="rect">
            <a:avLst/>
          </a:prstGeom>
        </p:spPr>
        <p:txBody>
          <a:bodyPr anchor="t" rtlCol="false" tIns="0" lIns="0" bIns="0" rIns="0">
            <a:spAutoFit/>
          </a:bodyPr>
          <a:lstStyle/>
          <a:p>
            <a:pPr algn="ctr" marL="0" indent="0" lvl="0">
              <a:lnSpc>
                <a:spcPts val="2029"/>
              </a:lnSpc>
              <a:spcBef>
                <a:spcPct val="0"/>
              </a:spcBef>
            </a:pPr>
            <a:r>
              <a:rPr lang="en-US" b="true" sz="1449" spc="168">
                <a:solidFill>
                  <a:srgbClr val="000000"/>
                </a:solidFill>
                <a:latin typeface="Montserrat Bold"/>
                <a:ea typeface="Montserrat Bold"/>
                <a:cs typeface="Montserrat Bold"/>
                <a:sym typeface="Montserrat Bold"/>
              </a:rPr>
              <a:t>OTHERS</a:t>
            </a:r>
          </a:p>
        </p:txBody>
      </p:sp>
      <p:sp>
        <p:nvSpPr>
          <p:cNvPr name="Freeform 14" id="14"/>
          <p:cNvSpPr/>
          <p:nvPr/>
        </p:nvSpPr>
        <p:spPr>
          <a:xfrm flipH="false" flipV="false" rot="0">
            <a:off x="5272881" y="1134413"/>
            <a:ext cx="7690221" cy="7734291"/>
          </a:xfrm>
          <a:custGeom>
            <a:avLst/>
            <a:gdLst/>
            <a:ahLst/>
            <a:cxnLst/>
            <a:rect r="r" b="b" t="t" l="l"/>
            <a:pathLst>
              <a:path h="7734291" w="7690221">
                <a:moveTo>
                  <a:pt x="0" y="0"/>
                </a:moveTo>
                <a:lnTo>
                  <a:pt x="7690221" y="0"/>
                </a:lnTo>
                <a:lnTo>
                  <a:pt x="7690221" y="7734291"/>
                </a:lnTo>
                <a:lnTo>
                  <a:pt x="0" y="7734291"/>
                </a:lnTo>
                <a:lnTo>
                  <a:pt x="0" y="0"/>
                </a:lnTo>
                <a:close/>
              </a:path>
            </a:pathLst>
          </a:custGeom>
          <a:blipFill>
            <a:blip r:embed="rId4">
              <a:alphaModFix amt="70000"/>
            </a:blip>
            <a:stretch>
              <a:fillRect l="0" t="0" r="0" b="0"/>
            </a:stretch>
          </a:blipFill>
        </p:spPr>
      </p:sp>
      <p:grpSp>
        <p:nvGrpSpPr>
          <p:cNvPr name="Group 15" id="15"/>
          <p:cNvGrpSpPr/>
          <p:nvPr/>
        </p:nvGrpSpPr>
        <p:grpSpPr>
          <a:xfrm rot="0">
            <a:off x="799326" y="8783971"/>
            <a:ext cx="16689348" cy="815308"/>
            <a:chOff x="0" y="0"/>
            <a:chExt cx="4395548" cy="214731"/>
          </a:xfrm>
        </p:grpSpPr>
        <p:sp>
          <p:nvSpPr>
            <p:cNvPr name="Freeform 16" id="16"/>
            <p:cNvSpPr/>
            <p:nvPr/>
          </p:nvSpPr>
          <p:spPr>
            <a:xfrm flipH="false" flipV="false" rot="0">
              <a:off x="0" y="0"/>
              <a:ext cx="4395548" cy="214731"/>
            </a:xfrm>
            <a:custGeom>
              <a:avLst/>
              <a:gdLst/>
              <a:ahLst/>
              <a:cxnLst/>
              <a:rect r="r" b="b" t="t" l="l"/>
              <a:pathLst>
                <a:path h="214731" w="4395548">
                  <a:moveTo>
                    <a:pt x="13917" y="0"/>
                  </a:moveTo>
                  <a:lnTo>
                    <a:pt x="4381632" y="0"/>
                  </a:lnTo>
                  <a:cubicBezTo>
                    <a:pt x="4389318" y="0"/>
                    <a:pt x="4395548" y="6231"/>
                    <a:pt x="4395548" y="13917"/>
                  </a:cubicBezTo>
                  <a:lnTo>
                    <a:pt x="4395548" y="200815"/>
                  </a:lnTo>
                  <a:cubicBezTo>
                    <a:pt x="4395548" y="204506"/>
                    <a:pt x="4394082" y="208045"/>
                    <a:pt x="4391472" y="210655"/>
                  </a:cubicBezTo>
                  <a:cubicBezTo>
                    <a:pt x="4388862" y="213265"/>
                    <a:pt x="4385323" y="214731"/>
                    <a:pt x="4381632" y="214731"/>
                  </a:cubicBezTo>
                  <a:lnTo>
                    <a:pt x="13917" y="214731"/>
                  </a:lnTo>
                  <a:cubicBezTo>
                    <a:pt x="10226" y="214731"/>
                    <a:pt x="6686" y="213265"/>
                    <a:pt x="4076" y="210655"/>
                  </a:cubicBezTo>
                  <a:cubicBezTo>
                    <a:pt x="1466" y="208045"/>
                    <a:pt x="0" y="204506"/>
                    <a:pt x="0" y="200815"/>
                  </a:cubicBezTo>
                  <a:lnTo>
                    <a:pt x="0" y="13917"/>
                  </a:lnTo>
                  <a:cubicBezTo>
                    <a:pt x="0" y="10226"/>
                    <a:pt x="1466" y="6686"/>
                    <a:pt x="4076" y="4076"/>
                  </a:cubicBezTo>
                  <a:cubicBezTo>
                    <a:pt x="6686" y="1466"/>
                    <a:pt x="10226" y="0"/>
                    <a:pt x="13917" y="0"/>
                  </a:cubicBezTo>
                  <a:close/>
                </a:path>
              </a:pathLst>
            </a:custGeom>
            <a:solidFill>
              <a:srgbClr val="000000"/>
            </a:solidFill>
            <a:ln cap="rnd">
              <a:noFill/>
              <a:prstDash val="solid"/>
              <a:round/>
            </a:ln>
          </p:spPr>
        </p:sp>
        <p:sp>
          <p:nvSpPr>
            <p:cNvPr name="TextBox 17" id="17"/>
            <p:cNvSpPr txBox="true"/>
            <p:nvPr/>
          </p:nvSpPr>
          <p:spPr>
            <a:xfrm>
              <a:off x="0" y="-38100"/>
              <a:ext cx="4395548" cy="252831"/>
            </a:xfrm>
            <a:prstGeom prst="rect">
              <a:avLst/>
            </a:prstGeom>
          </p:spPr>
          <p:txBody>
            <a:bodyPr anchor="ctr" rtlCol="false" tIns="50800" lIns="50800" bIns="50800" rIns="50800"/>
            <a:lstStyle/>
            <a:p>
              <a:pPr algn="ctr" marL="0" indent="0" lvl="0">
                <a:lnSpc>
                  <a:spcPts val="2800"/>
                </a:lnSpc>
              </a:pPr>
            </a:p>
          </p:txBody>
        </p:sp>
      </p:grpSp>
      <p:grpSp>
        <p:nvGrpSpPr>
          <p:cNvPr name="Group 18" id="18"/>
          <p:cNvGrpSpPr/>
          <p:nvPr/>
        </p:nvGrpSpPr>
        <p:grpSpPr>
          <a:xfrm rot="0">
            <a:off x="1028700" y="8960184"/>
            <a:ext cx="462882" cy="462882"/>
            <a:chOff x="0" y="0"/>
            <a:chExt cx="673100" cy="673100"/>
          </a:xfrm>
        </p:grpSpPr>
        <p:sp>
          <p:nvSpPr>
            <p:cNvPr name="Freeform 19" id="19"/>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20" id="20"/>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0">
            <a:off x="16796418" y="8960184"/>
            <a:ext cx="462882" cy="462882"/>
            <a:chOff x="0" y="0"/>
            <a:chExt cx="673100" cy="673100"/>
          </a:xfrm>
        </p:grpSpPr>
        <p:sp>
          <p:nvSpPr>
            <p:cNvPr name="Freeform 22" id="22"/>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23" id="23"/>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
        <p:nvSpPr>
          <p:cNvPr name="TextBox 24" id="24"/>
          <p:cNvSpPr txBox="true"/>
          <p:nvPr/>
        </p:nvSpPr>
        <p:spPr>
          <a:xfrm rot="0">
            <a:off x="1664837" y="8948947"/>
            <a:ext cx="6382588" cy="341090"/>
          </a:xfrm>
          <a:prstGeom prst="rect">
            <a:avLst/>
          </a:prstGeom>
        </p:spPr>
        <p:txBody>
          <a:bodyPr anchor="t" rtlCol="false" tIns="0" lIns="0" bIns="0" rIns="0">
            <a:spAutoFit/>
          </a:bodyPr>
          <a:lstStyle/>
          <a:p>
            <a:pPr algn="l" marL="0" indent="0" lvl="0">
              <a:lnSpc>
                <a:spcPts val="2849"/>
              </a:lnSpc>
            </a:pPr>
            <a:r>
              <a:rPr lang="en-US" b="true" sz="2175" spc="-78">
                <a:solidFill>
                  <a:srgbClr val="FFFFFF"/>
                </a:solidFill>
                <a:latin typeface="Montserrat Bold"/>
                <a:ea typeface="Montserrat Bold"/>
                <a:cs typeface="Montserrat Bold"/>
                <a:sym typeface="Montserrat Bold"/>
              </a:rPr>
              <a:t>GITHUB.COM/BRIAN-KAREITHI/ROADSAFE360</a:t>
            </a:r>
          </a:p>
        </p:txBody>
      </p:sp>
      <p:sp>
        <p:nvSpPr>
          <p:cNvPr name="TextBox 25" id="25"/>
          <p:cNvSpPr txBox="true"/>
          <p:nvPr/>
        </p:nvSpPr>
        <p:spPr>
          <a:xfrm rot="0">
            <a:off x="10218151" y="8950628"/>
            <a:ext cx="6382588" cy="341090"/>
          </a:xfrm>
          <a:prstGeom prst="rect">
            <a:avLst/>
          </a:prstGeom>
        </p:spPr>
        <p:txBody>
          <a:bodyPr anchor="t" rtlCol="false" tIns="0" lIns="0" bIns="0" rIns="0">
            <a:spAutoFit/>
          </a:bodyPr>
          <a:lstStyle/>
          <a:p>
            <a:pPr algn="r" marL="0" indent="0" lvl="0">
              <a:lnSpc>
                <a:spcPts val="2849"/>
              </a:lnSpc>
            </a:pPr>
            <a:r>
              <a:rPr lang="en-US" b="true" sz="2175" spc="-78">
                <a:solidFill>
                  <a:srgbClr val="FFFFFF"/>
                </a:solidFill>
                <a:latin typeface="Montserrat Bold"/>
                <a:ea typeface="Montserrat Bold"/>
                <a:cs typeface="Montserrat Bold"/>
                <a:sym typeface="Montserrat Bold"/>
              </a:rPr>
              <a:t>ROADSAFE-OPAL.VERCEL.APP</a:t>
            </a:r>
          </a:p>
        </p:txBody>
      </p:sp>
      <p:sp>
        <p:nvSpPr>
          <p:cNvPr name="TextBox 26" id="26"/>
          <p:cNvSpPr txBox="true"/>
          <p:nvPr/>
        </p:nvSpPr>
        <p:spPr>
          <a:xfrm rot="0">
            <a:off x="8722998" y="8941134"/>
            <a:ext cx="1295127" cy="341090"/>
          </a:xfrm>
          <a:prstGeom prst="rect">
            <a:avLst/>
          </a:prstGeom>
        </p:spPr>
        <p:txBody>
          <a:bodyPr anchor="t" rtlCol="false" tIns="0" lIns="0" bIns="0" rIns="0">
            <a:spAutoFit/>
          </a:bodyPr>
          <a:lstStyle/>
          <a:p>
            <a:pPr algn="ctr" marL="0" indent="0" lvl="0">
              <a:lnSpc>
                <a:spcPts val="2849"/>
              </a:lnSpc>
            </a:pPr>
          </a:p>
        </p:txBody>
      </p:sp>
      <p:sp>
        <p:nvSpPr>
          <p:cNvPr name="TextBox 27" id="27"/>
          <p:cNvSpPr txBox="true"/>
          <p:nvPr/>
        </p:nvSpPr>
        <p:spPr>
          <a:xfrm rot="0">
            <a:off x="4149136" y="2519445"/>
            <a:ext cx="9989729" cy="3750238"/>
          </a:xfrm>
          <a:prstGeom prst="rect">
            <a:avLst/>
          </a:prstGeom>
        </p:spPr>
        <p:txBody>
          <a:bodyPr anchor="t" rtlCol="false" tIns="0" lIns="0" bIns="0" rIns="0">
            <a:spAutoFit/>
          </a:bodyPr>
          <a:lstStyle/>
          <a:p>
            <a:pPr algn="ctr" marL="0" indent="0" lvl="0">
              <a:lnSpc>
                <a:spcPts val="14174"/>
              </a:lnSpc>
            </a:pPr>
            <a:r>
              <a:rPr lang="en-US" b="true" sz="16107" spc="-1079">
                <a:solidFill>
                  <a:srgbClr val="000000"/>
                </a:solidFill>
                <a:latin typeface="Montserrat Bold"/>
                <a:ea typeface="Montserrat Bold"/>
                <a:cs typeface="Montserrat Bold"/>
                <a:sym typeface="Montserrat Bold"/>
              </a:rPr>
              <a:t>Thank You!</a:t>
            </a:r>
          </a:p>
        </p:txBody>
      </p:sp>
      <p:grpSp>
        <p:nvGrpSpPr>
          <p:cNvPr name="Group 28" id="28"/>
          <p:cNvGrpSpPr/>
          <p:nvPr/>
        </p:nvGrpSpPr>
        <p:grpSpPr>
          <a:xfrm rot="0">
            <a:off x="16577264" y="2501893"/>
            <a:ext cx="678206" cy="1956906"/>
            <a:chOff x="0" y="0"/>
            <a:chExt cx="238315" cy="687639"/>
          </a:xfrm>
        </p:grpSpPr>
        <p:sp>
          <p:nvSpPr>
            <p:cNvPr name="Freeform 29" id="2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000000"/>
            </a:solidFill>
            <a:ln cap="rnd">
              <a:noFill/>
              <a:prstDash val="solid"/>
              <a:round/>
            </a:ln>
          </p:spPr>
        </p:sp>
        <p:sp>
          <p:nvSpPr>
            <p:cNvPr name="TextBox 30" id="3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31" id="31"/>
          <p:cNvGrpSpPr/>
          <p:nvPr/>
        </p:nvGrpSpPr>
        <p:grpSpPr>
          <a:xfrm rot="0">
            <a:off x="16577264" y="4458799"/>
            <a:ext cx="678206" cy="1864097"/>
            <a:chOff x="0" y="0"/>
            <a:chExt cx="238315" cy="655027"/>
          </a:xfrm>
        </p:grpSpPr>
        <p:sp>
          <p:nvSpPr>
            <p:cNvPr name="Freeform 32" id="32"/>
            <p:cNvSpPr/>
            <p:nvPr/>
          </p:nvSpPr>
          <p:spPr>
            <a:xfrm flipH="false" flipV="false" rot="0">
              <a:off x="0" y="0"/>
              <a:ext cx="238315" cy="655027"/>
            </a:xfrm>
            <a:custGeom>
              <a:avLst/>
              <a:gdLst/>
              <a:ahLst/>
              <a:cxnLst/>
              <a:rect r="r" b="b" t="t" l="l"/>
              <a:pathLst>
                <a:path h="655027" w="238315">
                  <a:moveTo>
                    <a:pt x="119158" y="0"/>
                  </a:moveTo>
                  <a:lnTo>
                    <a:pt x="119158" y="0"/>
                  </a:lnTo>
                  <a:cubicBezTo>
                    <a:pt x="184967" y="0"/>
                    <a:pt x="238315" y="53349"/>
                    <a:pt x="238315" y="119158"/>
                  </a:cubicBezTo>
                  <a:lnTo>
                    <a:pt x="238315" y="535869"/>
                  </a:lnTo>
                  <a:cubicBezTo>
                    <a:pt x="238315" y="601678"/>
                    <a:pt x="184967" y="655027"/>
                    <a:pt x="119158" y="655027"/>
                  </a:cubicBezTo>
                  <a:lnTo>
                    <a:pt x="119158" y="655027"/>
                  </a:lnTo>
                  <a:cubicBezTo>
                    <a:pt x="53349" y="655027"/>
                    <a:pt x="0" y="601678"/>
                    <a:pt x="0" y="535869"/>
                  </a:cubicBezTo>
                  <a:lnTo>
                    <a:pt x="0" y="119158"/>
                  </a:lnTo>
                  <a:cubicBezTo>
                    <a:pt x="0" y="53349"/>
                    <a:pt x="53349" y="0"/>
                    <a:pt x="119158" y="0"/>
                  </a:cubicBezTo>
                  <a:close/>
                </a:path>
              </a:pathLst>
            </a:custGeom>
            <a:solidFill>
              <a:srgbClr val="B4E100"/>
            </a:solidFill>
            <a:ln cap="rnd">
              <a:noFill/>
              <a:prstDash val="solid"/>
              <a:round/>
            </a:ln>
          </p:spPr>
        </p:sp>
        <p:sp>
          <p:nvSpPr>
            <p:cNvPr name="TextBox 33" id="33"/>
            <p:cNvSpPr txBox="true"/>
            <p:nvPr/>
          </p:nvSpPr>
          <p:spPr>
            <a:xfrm>
              <a:off x="0" y="-38100"/>
              <a:ext cx="238315" cy="693127"/>
            </a:xfrm>
            <a:prstGeom prst="rect">
              <a:avLst/>
            </a:prstGeom>
          </p:spPr>
          <p:txBody>
            <a:bodyPr anchor="ctr" rtlCol="false" tIns="50800" lIns="50800" bIns="50800" rIns="50800"/>
            <a:lstStyle/>
            <a:p>
              <a:pPr algn="ctr" marL="0" indent="0" lvl="0">
                <a:lnSpc>
                  <a:spcPts val="2800"/>
                </a:lnSpc>
              </a:pPr>
            </a:p>
          </p:txBody>
        </p:sp>
      </p:grpSp>
      <p:grpSp>
        <p:nvGrpSpPr>
          <p:cNvPr name="Group 34" id="34"/>
          <p:cNvGrpSpPr/>
          <p:nvPr/>
        </p:nvGrpSpPr>
        <p:grpSpPr>
          <a:xfrm rot="-10800000">
            <a:off x="1028700" y="5932722"/>
            <a:ext cx="678206" cy="1956906"/>
            <a:chOff x="0" y="0"/>
            <a:chExt cx="238315" cy="687639"/>
          </a:xfrm>
        </p:grpSpPr>
        <p:sp>
          <p:nvSpPr>
            <p:cNvPr name="Freeform 35" id="35"/>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000000"/>
            </a:solidFill>
            <a:ln cap="rnd">
              <a:noFill/>
              <a:prstDash val="solid"/>
              <a:round/>
            </a:ln>
          </p:spPr>
        </p:sp>
        <p:sp>
          <p:nvSpPr>
            <p:cNvPr name="TextBox 36" id="36"/>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37" id="37"/>
          <p:cNvGrpSpPr/>
          <p:nvPr/>
        </p:nvGrpSpPr>
        <p:grpSpPr>
          <a:xfrm rot="-10800000">
            <a:off x="1028700" y="4068625"/>
            <a:ext cx="678206" cy="1864097"/>
            <a:chOff x="0" y="0"/>
            <a:chExt cx="238315" cy="655027"/>
          </a:xfrm>
        </p:grpSpPr>
        <p:sp>
          <p:nvSpPr>
            <p:cNvPr name="Freeform 38" id="38"/>
            <p:cNvSpPr/>
            <p:nvPr/>
          </p:nvSpPr>
          <p:spPr>
            <a:xfrm flipH="false" flipV="false" rot="0">
              <a:off x="0" y="0"/>
              <a:ext cx="238315" cy="655027"/>
            </a:xfrm>
            <a:custGeom>
              <a:avLst/>
              <a:gdLst/>
              <a:ahLst/>
              <a:cxnLst/>
              <a:rect r="r" b="b" t="t" l="l"/>
              <a:pathLst>
                <a:path h="655027" w="238315">
                  <a:moveTo>
                    <a:pt x="119158" y="0"/>
                  </a:moveTo>
                  <a:lnTo>
                    <a:pt x="119158" y="0"/>
                  </a:lnTo>
                  <a:cubicBezTo>
                    <a:pt x="184967" y="0"/>
                    <a:pt x="238315" y="53349"/>
                    <a:pt x="238315" y="119158"/>
                  </a:cubicBezTo>
                  <a:lnTo>
                    <a:pt x="238315" y="535869"/>
                  </a:lnTo>
                  <a:cubicBezTo>
                    <a:pt x="238315" y="601678"/>
                    <a:pt x="184967" y="655027"/>
                    <a:pt x="119158" y="655027"/>
                  </a:cubicBezTo>
                  <a:lnTo>
                    <a:pt x="119158" y="655027"/>
                  </a:lnTo>
                  <a:cubicBezTo>
                    <a:pt x="53349" y="655027"/>
                    <a:pt x="0" y="601678"/>
                    <a:pt x="0" y="535869"/>
                  </a:cubicBezTo>
                  <a:lnTo>
                    <a:pt x="0" y="119158"/>
                  </a:lnTo>
                  <a:cubicBezTo>
                    <a:pt x="0" y="53349"/>
                    <a:pt x="53349" y="0"/>
                    <a:pt x="119158" y="0"/>
                  </a:cubicBezTo>
                  <a:close/>
                </a:path>
              </a:pathLst>
            </a:custGeom>
            <a:solidFill>
              <a:srgbClr val="B4E100"/>
            </a:solidFill>
            <a:ln cap="rnd">
              <a:noFill/>
              <a:prstDash val="solid"/>
              <a:round/>
            </a:ln>
          </p:spPr>
        </p:sp>
        <p:sp>
          <p:nvSpPr>
            <p:cNvPr name="TextBox 39" id="39"/>
            <p:cNvSpPr txBox="true"/>
            <p:nvPr/>
          </p:nvSpPr>
          <p:spPr>
            <a:xfrm>
              <a:off x="0" y="-38100"/>
              <a:ext cx="238315" cy="693127"/>
            </a:xfrm>
            <a:prstGeom prst="rect">
              <a:avLst/>
            </a:prstGeom>
          </p:spPr>
          <p:txBody>
            <a:bodyPr anchor="ctr" rtlCol="false" tIns="50800" lIns="50800" bIns="50800" rIns="50800"/>
            <a:lstStyle/>
            <a:p>
              <a:pPr algn="ctr" marL="0" indent="0" lvl="0">
                <a:lnSpc>
                  <a:spcPts val="280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DAHPi1_VCNU</dc:identifier>
  <dcterms:modified xsi:type="dcterms:W3CDTF">2011-08-01T06:04:30Z</dcterms:modified>
  <cp:revision>1</cp:revision>
  <dc:title>RoadSafe360: PBL Road Safety System</dc:title>
</cp:coreProperties>
</file>